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2" d="100"/>
          <a:sy n="62" d="100"/>
        </p:scale>
        <p:origin x="-1520"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76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9.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7"/>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C7293">
              <a:alpha val="30000"/>
            </a:srgbClr>
          </a:solidFill>
          <a:ln/>
        </p:spPr>
      </p:sp>
      <p:sp>
        <p:nvSpPr>
          <p:cNvPr id="3" name="Shape 1"/>
          <p:cNvSpPr/>
          <p:nvPr/>
        </p:nvSpPr>
        <p:spPr>
          <a:xfrm>
            <a:off x="-1280160" y="4389120"/>
            <a:ext cx="3840480" cy="3840480"/>
          </a:xfrm>
          <a:prstGeom prst="ellipse">
            <a:avLst/>
          </a:prstGeom>
          <a:solidFill>
            <a:srgbClr val="F5A623">
              <a:alpha val="12000"/>
            </a:srgbClr>
          </a:solidFill>
          <a:ln/>
        </p:spPr>
      </p:sp>
      <p:sp>
        <p:nvSpPr>
          <p:cNvPr id="4" name="Shape 2"/>
          <p:cNvSpPr/>
          <p:nvPr/>
        </p:nvSpPr>
        <p:spPr>
          <a:xfrm>
            <a:off x="640080" y="640080"/>
            <a:ext cx="685800" cy="685800"/>
          </a:xfrm>
          <a:prstGeom prst="ellipse">
            <a:avLst/>
          </a:prstGeom>
          <a:solidFill>
            <a:srgbClr val="FFFFFF"/>
          </a:solidFill>
          <a:ln/>
        </p:spPr>
      </p:sp>
      <p:pic>
        <p:nvPicPr>
          <p:cNvPr id="5" name="Image 0" descr="preencoded.png"/>
          <p:cNvPicPr>
            <a:picLocks noChangeAspect="1"/>
          </p:cNvPicPr>
          <p:nvPr/>
        </p:nvPicPr>
        <p:blipFill>
          <a:blip r:embed="rId3"/>
          <a:stretch>
            <a:fillRect/>
          </a:stretch>
        </p:blipFill>
        <p:spPr>
          <a:xfrm>
            <a:off x="818388" y="818388"/>
            <a:ext cx="329184" cy="329184"/>
          </a:xfrm>
          <a:prstGeom prst="rect">
            <a:avLst/>
          </a:prstGeom>
        </p:spPr>
      </p:pic>
      <p:sp>
        <p:nvSpPr>
          <p:cNvPr id="6" name="Text 3"/>
          <p:cNvSpPr/>
          <p:nvPr/>
        </p:nvSpPr>
        <p:spPr>
          <a:xfrm>
            <a:off x="640080" y="1554480"/>
            <a:ext cx="7315200" cy="365760"/>
          </a:xfrm>
          <a:prstGeom prst="rect">
            <a:avLst/>
          </a:prstGeom>
          <a:noFill/>
          <a:ln/>
        </p:spPr>
        <p:txBody>
          <a:bodyPr wrap="square"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ML INTERNSHIP PROGRAM  ·  TASK 1</a:t>
            </a:r>
            <a:endParaRPr lang="en-US" sz="1300" dirty="0"/>
          </a:p>
        </p:txBody>
      </p:sp>
      <p:sp>
        <p:nvSpPr>
          <p:cNvPr id="7" name="Text 4"/>
          <p:cNvSpPr/>
          <p:nvPr/>
        </p:nvSpPr>
        <p:spPr>
          <a:xfrm>
            <a:off x="640080" y="1965960"/>
            <a:ext cx="10515600"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Uber Fare Prediction</a:t>
            </a:r>
            <a:endParaRPr lang="en-US" sz="4600" dirty="0"/>
          </a:p>
        </p:txBody>
      </p:sp>
      <p:sp>
        <p:nvSpPr>
          <p:cNvPr id="8" name="Text 5"/>
          <p:cNvSpPr/>
          <p:nvPr/>
        </p:nvSpPr>
        <p:spPr>
          <a:xfrm>
            <a:off x="640080" y="2880360"/>
            <a:ext cx="10515600" cy="548640"/>
          </a:xfrm>
          <a:prstGeom prst="rect">
            <a:avLst/>
          </a:prstGeom>
          <a:noFill/>
          <a:ln/>
        </p:spPr>
        <p:txBody>
          <a:bodyPr wrap="square" rtlCol="0" anchor="ctr"/>
          <a:lstStyle/>
          <a:p>
            <a:pPr marL="0" indent="0">
              <a:buNone/>
            </a:pPr>
            <a:r>
              <a:rPr lang="en-US" sz="1900" i="1" dirty="0">
                <a:solidFill>
                  <a:srgbClr val="CADCFC"/>
                </a:solidFill>
                <a:latin typeface="Calibri" pitchFamily="34" charset="0"/>
                <a:ea typeface="Calibri" pitchFamily="34" charset="-122"/>
                <a:cs typeface="Calibri" pitchFamily="34" charset="-120"/>
              </a:rPr>
              <a:t>Exploring the data before we try to predict anything</a:t>
            </a:r>
            <a:endParaRPr lang="en-US" sz="1900" dirty="0"/>
          </a:p>
        </p:txBody>
      </p:sp>
      <p:sp>
        <p:nvSpPr>
          <p:cNvPr id="9" name="Shape 6"/>
          <p:cNvSpPr/>
          <p:nvPr/>
        </p:nvSpPr>
        <p:spPr>
          <a:xfrm>
            <a:off x="685800" y="3703320"/>
            <a:ext cx="0" cy="1371600"/>
          </a:xfrm>
          <a:prstGeom prst="line">
            <a:avLst/>
          </a:prstGeom>
          <a:noFill/>
          <a:ln w="25400">
            <a:solidFill>
              <a:srgbClr val="1C7293"/>
            </a:solidFill>
            <a:prstDash val="solid"/>
          </a:ln>
        </p:spPr>
      </p:sp>
      <p:sp>
        <p:nvSpPr>
          <p:cNvPr id="10" name="Text 7"/>
          <p:cNvSpPr/>
          <p:nvPr/>
        </p:nvSpPr>
        <p:spPr>
          <a:xfrm>
            <a:off x="868680" y="5989320"/>
            <a:ext cx="5486400" cy="365760"/>
          </a:xfrm>
          <a:prstGeom prst="rect">
            <a:avLst/>
          </a:prstGeom>
          <a:noFill/>
          <a:ln/>
        </p:spPr>
        <p:txBody>
          <a:bodyPr wrap="square" rtlCol="0" anchor="ctr"/>
          <a:lstStyle/>
          <a:p>
            <a:pPr marL="0" indent="0">
              <a:buNone/>
            </a:pPr>
            <a:r>
              <a:rPr lang="en-US" sz="1300" dirty="0">
                <a:solidFill>
                  <a:srgbClr val="9FB4C4"/>
                </a:solidFill>
                <a:latin typeface="Calibri" pitchFamily="34" charset="0"/>
                <a:ea typeface="Calibri" pitchFamily="34" charset="-122"/>
                <a:cs typeface="Calibri" pitchFamily="34" charset="-120"/>
              </a:rPr>
              <a:t>Prepared by  </a:t>
            </a:r>
            <a:r>
              <a:rPr lang="en-US" sz="1300" b="1" dirty="0">
                <a:solidFill>
                  <a:srgbClr val="FFFFFF"/>
                </a:solidFill>
                <a:latin typeface="Calibri" pitchFamily="34" charset="0"/>
                <a:ea typeface="Calibri" pitchFamily="34" charset="-122"/>
                <a:cs typeface="Calibri" pitchFamily="34" charset="-120"/>
              </a:rPr>
              <a:t>Nada Elghaweet</a:t>
            </a:r>
            <a:endParaRPr lang="en-US" sz="1300" dirty="0"/>
          </a:p>
        </p:txBody>
      </p:sp>
      <p:sp>
        <p:nvSpPr>
          <p:cNvPr id="11" name="Text 8"/>
          <p:cNvSpPr/>
          <p:nvPr/>
        </p:nvSpPr>
        <p:spPr>
          <a:xfrm>
            <a:off x="868680" y="6309360"/>
            <a:ext cx="5486400" cy="320040"/>
          </a:xfrm>
          <a:prstGeom prst="rect">
            <a:avLst/>
          </a:prstGeom>
          <a:noFill/>
          <a:ln/>
        </p:spPr>
        <p:txBody>
          <a:bodyPr wrap="square" rtlCol="0" anchor="ctr"/>
          <a:lstStyle/>
          <a:p>
            <a:pPr marL="0" indent="0">
              <a:buNone/>
            </a:pPr>
            <a:r>
              <a:rPr lang="en-US" sz="1100" dirty="0">
                <a:solidFill>
                  <a:srgbClr val="9FB4C4"/>
                </a:solidFill>
                <a:latin typeface="Calibri" pitchFamily="34" charset="0"/>
                <a:ea typeface="Calibri" pitchFamily="34" charset="-122"/>
                <a:cs typeface="Calibri" pitchFamily="34" charset="-120"/>
              </a:rPr>
              <a:t>Computer Science, AI Track.  Nile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APPROACH</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Before Modeling, Let's Understand the Data</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02</a:t>
            </a:r>
            <a:endParaRPr lang="en-US" sz="1000" dirty="0"/>
          </a:p>
        </p:txBody>
      </p:sp>
      <p:sp>
        <p:nvSpPr>
          <p:cNvPr id="5" name="Text 3"/>
          <p:cNvSpPr/>
          <p:nvPr/>
        </p:nvSpPr>
        <p:spPr>
          <a:xfrm>
            <a:off x="548640" y="1417320"/>
            <a:ext cx="10881360" cy="640080"/>
          </a:xfrm>
          <a:prstGeom prst="rect">
            <a:avLst/>
          </a:prstGeom>
          <a:noFill/>
          <a:ln/>
        </p:spPr>
        <p:txBody>
          <a:bodyPr wrap="square" rtlCol="0" anchor="ctr"/>
          <a:lstStyle/>
          <a:p>
            <a:pPr marL="0" indent="0">
              <a:buNone/>
            </a:pPr>
            <a:r>
              <a:rPr lang="en-US" sz="1500" i="1" dirty="0">
                <a:solidFill>
                  <a:srgbClr val="5B6B78"/>
                </a:solidFill>
                <a:latin typeface="Calibri" pitchFamily="34" charset="0"/>
                <a:ea typeface="Calibri" pitchFamily="34" charset="-122"/>
                <a:cs typeface="Calibri" pitchFamily="34" charset="-120"/>
              </a:rPr>
              <a:t>This deck looks at 27,646 Uber rides in New York City. The goal is simple: figure out what actually changes the fare, what doesn't, and catch anything odd in the data before it causes problems later.</a:t>
            </a:r>
            <a:endParaRPr lang="en-US" sz="1500" dirty="0"/>
          </a:p>
        </p:txBody>
      </p:sp>
      <p:sp>
        <p:nvSpPr>
          <p:cNvPr id="6" name="Shape 4"/>
          <p:cNvSpPr/>
          <p:nvPr/>
        </p:nvSpPr>
        <p:spPr>
          <a:xfrm>
            <a:off x="548640" y="2468880"/>
            <a:ext cx="2062886" cy="2880360"/>
          </a:xfrm>
          <a:prstGeom prst="roundRect">
            <a:avLst>
              <a:gd name="adj" fmla="val 4433"/>
            </a:avLst>
          </a:prstGeom>
          <a:solidFill>
            <a:srgbClr val="0B3D57"/>
          </a:solidFill>
          <a:ln/>
        </p:spPr>
      </p:sp>
      <p:sp>
        <p:nvSpPr>
          <p:cNvPr id="7" name="Shape 5"/>
          <p:cNvSpPr/>
          <p:nvPr/>
        </p:nvSpPr>
        <p:spPr>
          <a:xfrm>
            <a:off x="1214323" y="2788920"/>
            <a:ext cx="731520" cy="731520"/>
          </a:xfrm>
          <a:prstGeom prst="ellipse">
            <a:avLst/>
          </a:prstGeom>
          <a:solidFill>
            <a:srgbClr val="1C7293"/>
          </a:solidFill>
          <a:ln/>
        </p:spPr>
      </p:sp>
      <p:pic>
        <p:nvPicPr>
          <p:cNvPr id="8" name="Image 0" descr="preencoded.png"/>
          <p:cNvPicPr>
            <a:picLocks noChangeAspect="1"/>
          </p:cNvPicPr>
          <p:nvPr/>
        </p:nvPicPr>
        <p:blipFill>
          <a:blip r:embed="rId3"/>
          <a:stretch>
            <a:fillRect/>
          </a:stretch>
        </p:blipFill>
        <p:spPr>
          <a:xfrm>
            <a:off x="1404518" y="2979115"/>
            <a:ext cx="351130" cy="351130"/>
          </a:xfrm>
          <a:prstGeom prst="rect">
            <a:avLst/>
          </a:prstGeom>
        </p:spPr>
      </p:pic>
      <p:sp>
        <p:nvSpPr>
          <p:cNvPr id="9" name="Text 6"/>
          <p:cNvSpPr/>
          <p:nvPr/>
        </p:nvSpPr>
        <p:spPr>
          <a:xfrm>
            <a:off x="685800" y="3749040"/>
            <a:ext cx="1788566" cy="640080"/>
          </a:xfrm>
          <a:prstGeom prst="rect">
            <a:avLst/>
          </a:prstGeom>
          <a:noFill/>
          <a:ln/>
        </p:spPr>
        <p:txBody>
          <a:bodyPr wrap="square" rtlCol="0" anchor="t"/>
          <a:lstStyle/>
          <a:p>
            <a:pPr marL="0" indent="0" algn="ctr">
              <a:buNone/>
            </a:pPr>
            <a:r>
              <a:rPr lang="en-US" sz="1550" b="1" dirty="0">
                <a:solidFill>
                  <a:srgbClr val="FFFFFF"/>
                </a:solidFill>
                <a:latin typeface="Cambria" pitchFamily="34" charset="0"/>
                <a:ea typeface="Cambria" pitchFamily="34" charset="-122"/>
                <a:cs typeface="Cambria" pitchFamily="34" charset="-120"/>
              </a:rPr>
              <a:t>Fare &amp; Distance</a:t>
            </a:r>
            <a:endParaRPr lang="en-US" sz="1550" dirty="0"/>
          </a:p>
        </p:txBody>
      </p:sp>
      <p:sp>
        <p:nvSpPr>
          <p:cNvPr id="10" name="Text 7"/>
          <p:cNvSpPr/>
          <p:nvPr/>
        </p:nvSpPr>
        <p:spPr>
          <a:xfrm>
            <a:off x="685800" y="4343400"/>
            <a:ext cx="1788566" cy="914400"/>
          </a:xfrm>
          <a:prstGeom prst="rect">
            <a:avLst/>
          </a:prstGeom>
          <a:noFill/>
          <a:ln/>
        </p:spPr>
        <p:txBody>
          <a:bodyPr wrap="square" rtlCol="0" anchor="t"/>
          <a:lstStyle/>
          <a:p>
            <a:pPr marL="0" indent="0" algn="ctr">
              <a:buNone/>
            </a:pPr>
            <a:r>
              <a:rPr lang="en-US" sz="1100" dirty="0">
                <a:solidFill>
                  <a:srgbClr val="E3ECEF"/>
                </a:solidFill>
                <a:latin typeface="Calibri" pitchFamily="34" charset="0"/>
                <a:ea typeface="Calibri" pitchFamily="34" charset="-122"/>
                <a:cs typeface="Calibri" pitchFamily="34" charset="-120"/>
              </a:rPr>
              <a:t>how they relate, and why distance matters most</a:t>
            </a:r>
            <a:endParaRPr lang="en-US" sz="1100" dirty="0"/>
          </a:p>
        </p:txBody>
      </p:sp>
      <p:sp>
        <p:nvSpPr>
          <p:cNvPr id="11" name="Text 8"/>
          <p:cNvSpPr/>
          <p:nvPr/>
        </p:nvSpPr>
        <p:spPr>
          <a:xfrm>
            <a:off x="685800" y="2606040"/>
            <a:ext cx="548640" cy="365760"/>
          </a:xfrm>
          <a:prstGeom prst="rect">
            <a:avLst/>
          </a:prstGeom>
          <a:noFill/>
          <a:ln/>
        </p:spPr>
        <p:txBody>
          <a:bodyPr wrap="square" rtlCol="0" anchor="ctr"/>
          <a:lstStyle/>
          <a:p>
            <a:pPr marL="0" indent="0">
              <a:buNone/>
            </a:pPr>
            <a:r>
              <a:rPr lang="en-US" sz="1300" b="1" dirty="0">
                <a:solidFill>
                  <a:srgbClr val="F5A623"/>
                </a:solidFill>
                <a:latin typeface="Cambria" pitchFamily="34" charset="0"/>
                <a:ea typeface="Cambria" pitchFamily="34" charset="-122"/>
                <a:cs typeface="Cambria" pitchFamily="34" charset="-120"/>
              </a:rPr>
              <a:t>01</a:t>
            </a:r>
            <a:endParaRPr lang="en-US" sz="1300" dirty="0"/>
          </a:p>
        </p:txBody>
      </p:sp>
      <p:sp>
        <p:nvSpPr>
          <p:cNvPr id="12" name="Shape 9"/>
          <p:cNvSpPr/>
          <p:nvPr/>
        </p:nvSpPr>
        <p:spPr>
          <a:xfrm>
            <a:off x="2867558" y="2468880"/>
            <a:ext cx="2062886" cy="2880360"/>
          </a:xfrm>
          <a:prstGeom prst="roundRect">
            <a:avLst>
              <a:gd name="adj" fmla="val 4433"/>
            </a:avLst>
          </a:prstGeom>
          <a:solidFill>
            <a:srgbClr val="1C7293"/>
          </a:solidFill>
          <a:ln/>
        </p:spPr>
      </p:sp>
      <p:sp>
        <p:nvSpPr>
          <p:cNvPr id="13" name="Shape 10"/>
          <p:cNvSpPr/>
          <p:nvPr/>
        </p:nvSpPr>
        <p:spPr>
          <a:xfrm>
            <a:off x="3533242" y="2788920"/>
            <a:ext cx="731520" cy="731520"/>
          </a:xfrm>
          <a:prstGeom prst="ellipse">
            <a:avLst/>
          </a:prstGeom>
          <a:solidFill>
            <a:srgbClr val="0B3D57"/>
          </a:solidFill>
          <a:ln/>
        </p:spPr>
      </p:sp>
      <p:pic>
        <p:nvPicPr>
          <p:cNvPr id="14" name="Image 1" descr="preencoded.png"/>
          <p:cNvPicPr>
            <a:picLocks noChangeAspect="1"/>
          </p:cNvPicPr>
          <p:nvPr/>
        </p:nvPicPr>
        <p:blipFill>
          <a:blip r:embed="rId4"/>
          <a:stretch>
            <a:fillRect/>
          </a:stretch>
        </p:blipFill>
        <p:spPr>
          <a:xfrm>
            <a:off x="3723437" y="2979115"/>
            <a:ext cx="351130" cy="351130"/>
          </a:xfrm>
          <a:prstGeom prst="rect">
            <a:avLst/>
          </a:prstGeom>
        </p:spPr>
      </p:pic>
      <p:sp>
        <p:nvSpPr>
          <p:cNvPr id="15" name="Text 11"/>
          <p:cNvSpPr/>
          <p:nvPr/>
        </p:nvSpPr>
        <p:spPr>
          <a:xfrm>
            <a:off x="3004718" y="3749040"/>
            <a:ext cx="1788566" cy="640080"/>
          </a:xfrm>
          <a:prstGeom prst="rect">
            <a:avLst/>
          </a:prstGeom>
          <a:noFill/>
          <a:ln/>
        </p:spPr>
        <p:txBody>
          <a:bodyPr wrap="square" rtlCol="0" anchor="t"/>
          <a:lstStyle/>
          <a:p>
            <a:pPr marL="0" indent="0" algn="ctr">
              <a:buNone/>
            </a:pPr>
            <a:r>
              <a:rPr lang="en-US" sz="1550" b="1" dirty="0">
                <a:solidFill>
                  <a:srgbClr val="FFFFFF"/>
                </a:solidFill>
                <a:latin typeface="Cambria" pitchFamily="34" charset="0"/>
                <a:ea typeface="Cambria" pitchFamily="34" charset="-122"/>
                <a:cs typeface="Cambria" pitchFamily="34" charset="-120"/>
              </a:rPr>
              <a:t>What Doesn't Matter</a:t>
            </a:r>
            <a:endParaRPr lang="en-US" sz="1550" dirty="0"/>
          </a:p>
        </p:txBody>
      </p:sp>
      <p:sp>
        <p:nvSpPr>
          <p:cNvPr id="16" name="Text 12"/>
          <p:cNvSpPr/>
          <p:nvPr/>
        </p:nvSpPr>
        <p:spPr>
          <a:xfrm>
            <a:off x="3004718" y="4343400"/>
            <a:ext cx="1788566" cy="914400"/>
          </a:xfrm>
          <a:prstGeom prst="rect">
            <a:avLst/>
          </a:prstGeom>
          <a:noFill/>
          <a:ln/>
        </p:spPr>
        <p:txBody>
          <a:bodyPr wrap="square" rtlCol="0" anchor="t"/>
          <a:lstStyle/>
          <a:p>
            <a:pPr marL="0" indent="0" algn="ctr">
              <a:buNone/>
            </a:pPr>
            <a:r>
              <a:rPr lang="en-US" sz="1100" dirty="0">
                <a:solidFill>
                  <a:srgbClr val="E3ECEF"/>
                </a:solidFill>
                <a:latin typeface="Calibri" pitchFamily="34" charset="0"/>
                <a:ea typeface="Calibri" pitchFamily="34" charset="-122"/>
                <a:cs typeface="Calibri" pitchFamily="34" charset="-120"/>
              </a:rPr>
              <a:t>car condition, traffic, passengers</a:t>
            </a:r>
            <a:endParaRPr lang="en-US" sz="1100" dirty="0"/>
          </a:p>
        </p:txBody>
      </p:sp>
      <p:sp>
        <p:nvSpPr>
          <p:cNvPr id="17" name="Text 13"/>
          <p:cNvSpPr/>
          <p:nvPr/>
        </p:nvSpPr>
        <p:spPr>
          <a:xfrm>
            <a:off x="3004718" y="2606040"/>
            <a:ext cx="548640" cy="365760"/>
          </a:xfrm>
          <a:prstGeom prst="rect">
            <a:avLst/>
          </a:prstGeom>
          <a:noFill/>
          <a:ln/>
        </p:spPr>
        <p:txBody>
          <a:bodyPr wrap="square" rtlCol="0" anchor="ctr"/>
          <a:lstStyle/>
          <a:p>
            <a:pPr marL="0" indent="0">
              <a:buNone/>
            </a:pPr>
            <a:r>
              <a:rPr lang="en-US" sz="1300" b="1" dirty="0">
                <a:solidFill>
                  <a:srgbClr val="F5A623"/>
                </a:solidFill>
                <a:latin typeface="Cambria" pitchFamily="34" charset="0"/>
                <a:ea typeface="Cambria" pitchFamily="34" charset="-122"/>
                <a:cs typeface="Cambria" pitchFamily="34" charset="-120"/>
              </a:rPr>
              <a:t>02</a:t>
            </a:r>
            <a:endParaRPr lang="en-US" sz="1300" dirty="0"/>
          </a:p>
        </p:txBody>
      </p:sp>
      <p:sp>
        <p:nvSpPr>
          <p:cNvPr id="18" name="Shape 14"/>
          <p:cNvSpPr/>
          <p:nvPr/>
        </p:nvSpPr>
        <p:spPr>
          <a:xfrm>
            <a:off x="5186477" y="2468880"/>
            <a:ext cx="2062886" cy="2880360"/>
          </a:xfrm>
          <a:prstGeom prst="roundRect">
            <a:avLst>
              <a:gd name="adj" fmla="val 4433"/>
            </a:avLst>
          </a:prstGeom>
          <a:solidFill>
            <a:srgbClr val="0B3D57"/>
          </a:solidFill>
          <a:ln/>
        </p:spPr>
      </p:sp>
      <p:sp>
        <p:nvSpPr>
          <p:cNvPr id="19" name="Shape 15"/>
          <p:cNvSpPr/>
          <p:nvPr/>
        </p:nvSpPr>
        <p:spPr>
          <a:xfrm>
            <a:off x="5852160" y="2788920"/>
            <a:ext cx="731520" cy="731520"/>
          </a:xfrm>
          <a:prstGeom prst="ellipse">
            <a:avLst/>
          </a:prstGeom>
          <a:solidFill>
            <a:srgbClr val="1C7293"/>
          </a:solidFill>
          <a:ln/>
        </p:spPr>
      </p:sp>
      <p:pic>
        <p:nvPicPr>
          <p:cNvPr id="20" name="Image 2" descr="preencoded.png"/>
          <p:cNvPicPr>
            <a:picLocks noChangeAspect="1"/>
          </p:cNvPicPr>
          <p:nvPr/>
        </p:nvPicPr>
        <p:blipFill>
          <a:blip r:embed="rId5"/>
          <a:stretch>
            <a:fillRect/>
          </a:stretch>
        </p:blipFill>
        <p:spPr>
          <a:xfrm>
            <a:off x="6042355" y="2979115"/>
            <a:ext cx="351130" cy="351130"/>
          </a:xfrm>
          <a:prstGeom prst="rect">
            <a:avLst/>
          </a:prstGeom>
        </p:spPr>
      </p:pic>
      <p:sp>
        <p:nvSpPr>
          <p:cNvPr id="21" name="Text 16"/>
          <p:cNvSpPr/>
          <p:nvPr/>
        </p:nvSpPr>
        <p:spPr>
          <a:xfrm>
            <a:off x="5323637" y="3749040"/>
            <a:ext cx="1788566" cy="640080"/>
          </a:xfrm>
          <a:prstGeom prst="rect">
            <a:avLst/>
          </a:prstGeom>
          <a:noFill/>
          <a:ln/>
        </p:spPr>
        <p:txBody>
          <a:bodyPr wrap="square" rtlCol="0" anchor="t"/>
          <a:lstStyle/>
          <a:p>
            <a:pPr marL="0" indent="0" algn="ctr">
              <a:buNone/>
            </a:pPr>
            <a:r>
              <a:rPr lang="en-US" sz="1550" b="1" dirty="0">
                <a:solidFill>
                  <a:srgbClr val="FFFFFF"/>
                </a:solidFill>
                <a:latin typeface="Cambria" pitchFamily="34" charset="0"/>
                <a:ea typeface="Cambria" pitchFamily="34" charset="-122"/>
                <a:cs typeface="Cambria" pitchFamily="34" charset="-120"/>
              </a:rPr>
              <a:t>Airport Rides</a:t>
            </a:r>
            <a:endParaRPr lang="en-US" sz="1550" dirty="0"/>
          </a:p>
        </p:txBody>
      </p:sp>
      <p:sp>
        <p:nvSpPr>
          <p:cNvPr id="22" name="Text 17"/>
          <p:cNvSpPr/>
          <p:nvPr/>
        </p:nvSpPr>
        <p:spPr>
          <a:xfrm>
            <a:off x="5323637" y="4343400"/>
            <a:ext cx="1788566" cy="914400"/>
          </a:xfrm>
          <a:prstGeom prst="rect">
            <a:avLst/>
          </a:prstGeom>
          <a:noFill/>
          <a:ln/>
        </p:spPr>
        <p:txBody>
          <a:bodyPr wrap="square" rtlCol="0" anchor="t"/>
          <a:lstStyle/>
          <a:p>
            <a:pPr marL="0" indent="0" algn="ctr">
              <a:buNone/>
            </a:pPr>
            <a:r>
              <a:rPr lang="en-US" sz="1100" dirty="0">
                <a:solidFill>
                  <a:srgbClr val="E3ECEF"/>
                </a:solidFill>
                <a:latin typeface="Calibri" pitchFamily="34" charset="0"/>
                <a:ea typeface="Calibri" pitchFamily="34" charset="-122"/>
                <a:cs typeface="Calibri" pitchFamily="34" charset="-120"/>
              </a:rPr>
              <a:t>are they really pricier?</a:t>
            </a:r>
            <a:endParaRPr lang="en-US" sz="1100" dirty="0"/>
          </a:p>
        </p:txBody>
      </p:sp>
      <p:sp>
        <p:nvSpPr>
          <p:cNvPr id="23" name="Text 18"/>
          <p:cNvSpPr/>
          <p:nvPr/>
        </p:nvSpPr>
        <p:spPr>
          <a:xfrm>
            <a:off x="5323637" y="2606040"/>
            <a:ext cx="548640" cy="365760"/>
          </a:xfrm>
          <a:prstGeom prst="rect">
            <a:avLst/>
          </a:prstGeom>
          <a:noFill/>
          <a:ln/>
        </p:spPr>
        <p:txBody>
          <a:bodyPr wrap="square" rtlCol="0" anchor="ctr"/>
          <a:lstStyle/>
          <a:p>
            <a:pPr marL="0" indent="0">
              <a:buNone/>
            </a:pPr>
            <a:r>
              <a:rPr lang="en-US" sz="1300" b="1" dirty="0">
                <a:solidFill>
                  <a:srgbClr val="F5A623"/>
                </a:solidFill>
                <a:latin typeface="Cambria" pitchFamily="34" charset="0"/>
                <a:ea typeface="Cambria" pitchFamily="34" charset="-122"/>
                <a:cs typeface="Cambria" pitchFamily="34" charset="-120"/>
              </a:rPr>
              <a:t>03</a:t>
            </a:r>
            <a:endParaRPr lang="en-US" sz="1300" dirty="0"/>
          </a:p>
        </p:txBody>
      </p:sp>
      <p:sp>
        <p:nvSpPr>
          <p:cNvPr id="24" name="Shape 19"/>
          <p:cNvSpPr/>
          <p:nvPr/>
        </p:nvSpPr>
        <p:spPr>
          <a:xfrm>
            <a:off x="7505395" y="2468880"/>
            <a:ext cx="2062886" cy="2880360"/>
          </a:xfrm>
          <a:prstGeom prst="roundRect">
            <a:avLst>
              <a:gd name="adj" fmla="val 4433"/>
            </a:avLst>
          </a:prstGeom>
          <a:solidFill>
            <a:srgbClr val="1C7293"/>
          </a:solidFill>
          <a:ln/>
        </p:spPr>
      </p:sp>
      <p:sp>
        <p:nvSpPr>
          <p:cNvPr id="25" name="Shape 20"/>
          <p:cNvSpPr/>
          <p:nvPr/>
        </p:nvSpPr>
        <p:spPr>
          <a:xfrm>
            <a:off x="8171078" y="2788920"/>
            <a:ext cx="731520" cy="731520"/>
          </a:xfrm>
          <a:prstGeom prst="ellipse">
            <a:avLst/>
          </a:prstGeom>
          <a:solidFill>
            <a:srgbClr val="0B3D57"/>
          </a:solidFill>
          <a:ln/>
        </p:spPr>
      </p:sp>
      <p:pic>
        <p:nvPicPr>
          <p:cNvPr id="26" name="Image 3" descr="preencoded.png"/>
          <p:cNvPicPr>
            <a:picLocks noChangeAspect="1"/>
          </p:cNvPicPr>
          <p:nvPr/>
        </p:nvPicPr>
        <p:blipFill>
          <a:blip r:embed="rId6"/>
          <a:stretch>
            <a:fillRect/>
          </a:stretch>
        </p:blipFill>
        <p:spPr>
          <a:xfrm>
            <a:off x="8361274" y="2979115"/>
            <a:ext cx="351130" cy="351130"/>
          </a:xfrm>
          <a:prstGeom prst="rect">
            <a:avLst/>
          </a:prstGeom>
        </p:spPr>
      </p:pic>
      <p:sp>
        <p:nvSpPr>
          <p:cNvPr id="27" name="Text 21"/>
          <p:cNvSpPr/>
          <p:nvPr/>
        </p:nvSpPr>
        <p:spPr>
          <a:xfrm>
            <a:off x="7642555" y="3749040"/>
            <a:ext cx="1788566" cy="640080"/>
          </a:xfrm>
          <a:prstGeom prst="rect">
            <a:avLst/>
          </a:prstGeom>
          <a:noFill/>
          <a:ln/>
        </p:spPr>
        <p:txBody>
          <a:bodyPr wrap="square" rtlCol="0" anchor="t"/>
          <a:lstStyle/>
          <a:p>
            <a:pPr marL="0" indent="0" algn="ctr">
              <a:buNone/>
            </a:pPr>
            <a:r>
              <a:rPr lang="en-US" sz="1550" b="1" dirty="0">
                <a:solidFill>
                  <a:srgbClr val="FFFFFF"/>
                </a:solidFill>
                <a:latin typeface="Cambria" pitchFamily="34" charset="0"/>
                <a:ea typeface="Cambria" pitchFamily="34" charset="-122"/>
                <a:cs typeface="Cambria" pitchFamily="34" charset="-120"/>
              </a:rPr>
              <a:t>Time &amp; Demand</a:t>
            </a:r>
            <a:endParaRPr lang="en-US" sz="1550" dirty="0"/>
          </a:p>
        </p:txBody>
      </p:sp>
      <p:sp>
        <p:nvSpPr>
          <p:cNvPr id="28" name="Text 22"/>
          <p:cNvSpPr/>
          <p:nvPr/>
        </p:nvSpPr>
        <p:spPr>
          <a:xfrm>
            <a:off x="7642555" y="4343400"/>
            <a:ext cx="1788566" cy="914400"/>
          </a:xfrm>
          <a:prstGeom prst="rect">
            <a:avLst/>
          </a:prstGeom>
          <a:noFill/>
          <a:ln/>
        </p:spPr>
        <p:txBody>
          <a:bodyPr wrap="square" rtlCol="0" anchor="t"/>
          <a:lstStyle/>
          <a:p>
            <a:pPr marL="0" indent="0" algn="ctr">
              <a:buNone/>
            </a:pPr>
            <a:r>
              <a:rPr lang="en-US" sz="1100" dirty="0">
                <a:solidFill>
                  <a:srgbClr val="E3ECEF"/>
                </a:solidFill>
                <a:latin typeface="Calibri" pitchFamily="34" charset="0"/>
                <a:ea typeface="Calibri" pitchFamily="34" charset="-122"/>
                <a:cs typeface="Calibri" pitchFamily="34" charset="-120"/>
              </a:rPr>
              <a:t>when people ride, and when it costs more</a:t>
            </a:r>
            <a:endParaRPr lang="en-US" sz="1100" dirty="0"/>
          </a:p>
        </p:txBody>
      </p:sp>
      <p:sp>
        <p:nvSpPr>
          <p:cNvPr id="29" name="Text 23"/>
          <p:cNvSpPr/>
          <p:nvPr/>
        </p:nvSpPr>
        <p:spPr>
          <a:xfrm>
            <a:off x="7642555" y="2606040"/>
            <a:ext cx="548640" cy="365760"/>
          </a:xfrm>
          <a:prstGeom prst="rect">
            <a:avLst/>
          </a:prstGeom>
          <a:noFill/>
          <a:ln/>
        </p:spPr>
        <p:txBody>
          <a:bodyPr wrap="square" rtlCol="0" anchor="ctr"/>
          <a:lstStyle/>
          <a:p>
            <a:pPr marL="0" indent="0">
              <a:buNone/>
            </a:pPr>
            <a:r>
              <a:rPr lang="en-US" sz="1300" b="1" dirty="0">
                <a:solidFill>
                  <a:srgbClr val="F5A623"/>
                </a:solidFill>
                <a:latin typeface="Cambria" pitchFamily="34" charset="0"/>
                <a:ea typeface="Cambria" pitchFamily="34" charset="-122"/>
                <a:cs typeface="Cambria" pitchFamily="34" charset="-120"/>
              </a:rPr>
              <a:t>04</a:t>
            </a:r>
            <a:endParaRPr lang="en-US" sz="1300" dirty="0"/>
          </a:p>
        </p:txBody>
      </p:sp>
      <p:sp>
        <p:nvSpPr>
          <p:cNvPr id="30" name="Shape 24"/>
          <p:cNvSpPr/>
          <p:nvPr/>
        </p:nvSpPr>
        <p:spPr>
          <a:xfrm>
            <a:off x="9824314" y="2468880"/>
            <a:ext cx="2062886" cy="2880360"/>
          </a:xfrm>
          <a:prstGeom prst="roundRect">
            <a:avLst>
              <a:gd name="adj" fmla="val 4433"/>
            </a:avLst>
          </a:prstGeom>
          <a:solidFill>
            <a:srgbClr val="0B3D57"/>
          </a:solidFill>
          <a:ln/>
        </p:spPr>
      </p:sp>
      <p:sp>
        <p:nvSpPr>
          <p:cNvPr id="31" name="Shape 25"/>
          <p:cNvSpPr/>
          <p:nvPr/>
        </p:nvSpPr>
        <p:spPr>
          <a:xfrm>
            <a:off x="10489997" y="2788920"/>
            <a:ext cx="731520" cy="731520"/>
          </a:xfrm>
          <a:prstGeom prst="ellipse">
            <a:avLst/>
          </a:prstGeom>
          <a:solidFill>
            <a:srgbClr val="1C7293"/>
          </a:solidFill>
          <a:ln/>
        </p:spPr>
      </p:sp>
      <p:pic>
        <p:nvPicPr>
          <p:cNvPr id="32" name="Image 4" descr="preencoded.png"/>
          <p:cNvPicPr>
            <a:picLocks noChangeAspect="1"/>
          </p:cNvPicPr>
          <p:nvPr/>
        </p:nvPicPr>
        <p:blipFill>
          <a:blip r:embed="rId7"/>
          <a:stretch>
            <a:fillRect/>
          </a:stretch>
        </p:blipFill>
        <p:spPr>
          <a:xfrm>
            <a:off x="10680192" y="2979115"/>
            <a:ext cx="351130" cy="351130"/>
          </a:xfrm>
          <a:prstGeom prst="rect">
            <a:avLst/>
          </a:prstGeom>
        </p:spPr>
      </p:pic>
      <p:sp>
        <p:nvSpPr>
          <p:cNvPr id="33" name="Text 26"/>
          <p:cNvSpPr/>
          <p:nvPr/>
        </p:nvSpPr>
        <p:spPr>
          <a:xfrm>
            <a:off x="9961474" y="3749040"/>
            <a:ext cx="1788566" cy="640080"/>
          </a:xfrm>
          <a:prstGeom prst="rect">
            <a:avLst/>
          </a:prstGeom>
          <a:noFill/>
          <a:ln/>
        </p:spPr>
        <p:txBody>
          <a:bodyPr wrap="square" rtlCol="0" anchor="t"/>
          <a:lstStyle/>
          <a:p>
            <a:pPr marL="0" indent="0" algn="ctr">
              <a:buNone/>
            </a:pPr>
            <a:r>
              <a:rPr lang="en-US" sz="1550" b="1" dirty="0">
                <a:solidFill>
                  <a:srgbClr val="FFFFFF"/>
                </a:solidFill>
                <a:latin typeface="Cambria" pitchFamily="34" charset="0"/>
                <a:ea typeface="Cambria" pitchFamily="34" charset="-122"/>
                <a:cs typeface="Cambria" pitchFamily="34" charset="-120"/>
              </a:rPr>
              <a:t>A Hidden Bug</a:t>
            </a:r>
            <a:endParaRPr lang="en-US" sz="1550" dirty="0"/>
          </a:p>
        </p:txBody>
      </p:sp>
      <p:sp>
        <p:nvSpPr>
          <p:cNvPr id="34" name="Text 27"/>
          <p:cNvSpPr/>
          <p:nvPr/>
        </p:nvSpPr>
        <p:spPr>
          <a:xfrm>
            <a:off x="9961474" y="4343400"/>
            <a:ext cx="1788566" cy="914400"/>
          </a:xfrm>
          <a:prstGeom prst="rect">
            <a:avLst/>
          </a:prstGeom>
          <a:noFill/>
          <a:ln/>
        </p:spPr>
        <p:txBody>
          <a:bodyPr wrap="square" rtlCol="0" anchor="t"/>
          <a:lstStyle/>
          <a:p>
            <a:pPr marL="0" indent="0" algn="ctr">
              <a:buNone/>
            </a:pPr>
            <a:r>
              <a:rPr lang="en-US" sz="1100" dirty="0">
                <a:solidFill>
                  <a:srgbClr val="E3ECEF"/>
                </a:solidFill>
                <a:latin typeface="Calibri" pitchFamily="34" charset="0"/>
                <a:ea typeface="Calibri" pitchFamily="34" charset="-122"/>
                <a:cs typeface="Calibri" pitchFamily="34" charset="-120"/>
              </a:rPr>
              <a:t>a coordinate mistake we caught in time</a:t>
            </a:r>
            <a:endParaRPr lang="en-US" sz="1100" dirty="0"/>
          </a:p>
        </p:txBody>
      </p:sp>
      <p:sp>
        <p:nvSpPr>
          <p:cNvPr id="35" name="Text 28"/>
          <p:cNvSpPr/>
          <p:nvPr/>
        </p:nvSpPr>
        <p:spPr>
          <a:xfrm>
            <a:off x="9961474" y="2606040"/>
            <a:ext cx="548640" cy="365760"/>
          </a:xfrm>
          <a:prstGeom prst="rect">
            <a:avLst/>
          </a:prstGeom>
          <a:noFill/>
          <a:ln/>
        </p:spPr>
        <p:txBody>
          <a:bodyPr wrap="square" rtlCol="0" anchor="ctr"/>
          <a:lstStyle/>
          <a:p>
            <a:pPr marL="0" indent="0">
              <a:buNone/>
            </a:pPr>
            <a:r>
              <a:rPr lang="en-US" sz="1300" b="1" dirty="0">
                <a:solidFill>
                  <a:srgbClr val="F5A623"/>
                </a:solidFill>
                <a:latin typeface="Cambria" pitchFamily="34" charset="0"/>
                <a:ea typeface="Cambria" pitchFamily="34" charset="-122"/>
                <a:cs typeface="Cambria" pitchFamily="34" charset="-120"/>
              </a:rPr>
              <a:t>05</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FARE AMOUNT</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How Is the Fare Distributed?</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03</a:t>
            </a:r>
            <a:endParaRPr lang="en-US" sz="1000" dirty="0"/>
          </a:p>
        </p:txBody>
      </p:sp>
      <p:pic>
        <p:nvPicPr>
          <p:cNvPr id="5" name="Image 0" descr="/home/claude/nb_images/cell3_0.png"/>
          <p:cNvPicPr>
            <a:picLocks noChangeAspect="1"/>
          </p:cNvPicPr>
          <p:nvPr/>
        </p:nvPicPr>
        <p:blipFill>
          <a:blip r:embed="rId3"/>
          <a:stretch>
            <a:fillRect/>
          </a:stretch>
        </p:blipFill>
        <p:spPr>
          <a:xfrm>
            <a:off x="548640" y="1508760"/>
            <a:ext cx="5120640" cy="3375457"/>
          </a:xfrm>
          <a:prstGeom prst="rect">
            <a:avLst/>
          </a:prstGeom>
        </p:spPr>
      </p:pic>
      <p:pic>
        <p:nvPicPr>
          <p:cNvPr id="6" name="Image 1" descr="/home/claude/nb_images/cell4_0.png"/>
          <p:cNvPicPr>
            <a:picLocks noChangeAspect="1"/>
          </p:cNvPicPr>
          <p:nvPr/>
        </p:nvPicPr>
        <p:blipFill>
          <a:blip r:embed="rId4"/>
          <a:stretch>
            <a:fillRect/>
          </a:stretch>
        </p:blipFill>
        <p:spPr>
          <a:xfrm>
            <a:off x="5897880" y="1321968"/>
            <a:ext cx="5105076" cy="3749040"/>
          </a:xfrm>
          <a:prstGeom prst="rect">
            <a:avLst/>
          </a:prstGeom>
        </p:spPr>
      </p:pic>
      <p:sp>
        <p:nvSpPr>
          <p:cNvPr id="7" name="Shape 3"/>
          <p:cNvSpPr/>
          <p:nvPr/>
        </p:nvSpPr>
        <p:spPr>
          <a:xfrm>
            <a:off x="548640" y="5440680"/>
            <a:ext cx="10881360" cy="1325880"/>
          </a:xfrm>
          <a:prstGeom prst="roundRect">
            <a:avLst>
              <a:gd name="adj" fmla="val 6957"/>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8" name="Text 4"/>
          <p:cNvSpPr/>
          <p:nvPr/>
        </p:nvSpPr>
        <p:spPr>
          <a:xfrm>
            <a:off x="777240" y="5586984"/>
            <a:ext cx="1042416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WHAT IT MEANS</a:t>
            </a:r>
            <a:endParaRPr lang="en-US" sz="1100" dirty="0"/>
          </a:p>
        </p:txBody>
      </p:sp>
      <p:sp>
        <p:nvSpPr>
          <p:cNvPr id="9" name="Text 5"/>
          <p:cNvSpPr/>
          <p:nvPr/>
        </p:nvSpPr>
        <p:spPr>
          <a:xfrm>
            <a:off x="777240" y="5897880"/>
            <a:ext cx="10424160" cy="411480"/>
          </a:xfrm>
          <a:prstGeom prst="rect">
            <a:avLst/>
          </a:prstGeom>
          <a:noFill/>
          <a:ln/>
        </p:spPr>
        <p:txBody>
          <a:bodyPr wrap="square" rtlCol="0" anchor="t"/>
          <a:lstStyle/>
          <a:p>
            <a:pPr marL="0" indent="0">
              <a:lnSpc>
                <a:spcPct val="115000"/>
              </a:lnSpc>
              <a:buNone/>
            </a:pPr>
            <a:r>
              <a:rPr lang="en-US" sz="1350" dirty="0">
                <a:solidFill>
                  <a:srgbClr val="1E2530"/>
                </a:solidFill>
                <a:latin typeface="Calibri" pitchFamily="34" charset="0"/>
                <a:ea typeface="Calibri" pitchFamily="34" charset="-122"/>
                <a:cs typeface="Calibri" pitchFamily="34" charset="-120"/>
              </a:rPr>
              <a:t>Most rides have a low, similar fare. But some trips cost a lot more, and those pull the average up. The boxplot shows a clear cluster of expensive rides above the normal range. These look like real premium trips, not mistakes, so the model will need to handle them carefully instead of just removing them.</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TRIP DISTANCE</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How Far Do Rides Actually Go?</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04</a:t>
            </a:r>
            <a:endParaRPr lang="en-US" sz="1000" dirty="0"/>
          </a:p>
        </p:txBody>
      </p:sp>
      <p:pic>
        <p:nvPicPr>
          <p:cNvPr id="5" name="Image 0" descr="/home/claude/nb_images/cell6_0.png"/>
          <p:cNvPicPr>
            <a:picLocks noChangeAspect="1"/>
          </p:cNvPicPr>
          <p:nvPr/>
        </p:nvPicPr>
        <p:blipFill>
          <a:blip r:embed="rId3"/>
          <a:stretch>
            <a:fillRect/>
          </a:stretch>
        </p:blipFill>
        <p:spPr>
          <a:xfrm>
            <a:off x="548640" y="1508760"/>
            <a:ext cx="5120640" cy="3418609"/>
          </a:xfrm>
          <a:prstGeom prst="rect">
            <a:avLst/>
          </a:prstGeom>
        </p:spPr>
      </p:pic>
      <p:pic>
        <p:nvPicPr>
          <p:cNvPr id="6" name="Image 1" descr="/home/claude/nb_images/cell7_0.png"/>
          <p:cNvPicPr>
            <a:picLocks noChangeAspect="1"/>
          </p:cNvPicPr>
          <p:nvPr/>
        </p:nvPicPr>
        <p:blipFill>
          <a:blip r:embed="rId4"/>
          <a:stretch>
            <a:fillRect/>
          </a:stretch>
        </p:blipFill>
        <p:spPr>
          <a:xfrm>
            <a:off x="5897880" y="1343545"/>
            <a:ext cx="5105076" cy="3749040"/>
          </a:xfrm>
          <a:prstGeom prst="rect">
            <a:avLst/>
          </a:prstGeom>
        </p:spPr>
      </p:pic>
      <p:sp>
        <p:nvSpPr>
          <p:cNvPr id="7" name="Shape 3"/>
          <p:cNvSpPr/>
          <p:nvPr/>
        </p:nvSpPr>
        <p:spPr>
          <a:xfrm>
            <a:off x="548640" y="5440680"/>
            <a:ext cx="6949440" cy="1325880"/>
          </a:xfrm>
          <a:prstGeom prst="roundRect">
            <a:avLst>
              <a:gd name="adj" fmla="val 6957"/>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8" name="Text 4"/>
          <p:cNvSpPr/>
          <p:nvPr/>
        </p:nvSpPr>
        <p:spPr>
          <a:xfrm>
            <a:off x="777240" y="5586984"/>
            <a:ext cx="649224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WHAT IT MEANS</a:t>
            </a:r>
            <a:endParaRPr lang="en-US" sz="1100" dirty="0"/>
          </a:p>
        </p:txBody>
      </p:sp>
      <p:sp>
        <p:nvSpPr>
          <p:cNvPr id="9" name="Text 5"/>
          <p:cNvSpPr/>
          <p:nvPr/>
        </p:nvSpPr>
        <p:spPr>
          <a:xfrm>
            <a:off x="777240" y="5897880"/>
            <a:ext cx="6492240" cy="411480"/>
          </a:xfrm>
          <a:prstGeom prst="rect">
            <a:avLst/>
          </a:prstGeom>
          <a:noFill/>
          <a:ln/>
        </p:spPr>
        <p:txBody>
          <a:bodyPr wrap="square" rtlCol="0" anchor="t"/>
          <a:lstStyle/>
          <a:p>
            <a:pPr>
              <a:lnSpc>
                <a:spcPct val="115000"/>
              </a:lnSpc>
            </a:pPr>
            <a:r>
              <a:rPr lang="en-US" sz="1350" dirty="0">
                <a:solidFill>
                  <a:srgbClr val="1E2530"/>
                </a:solidFill>
                <a:latin typeface="Calibri" pitchFamily="34" charset="0"/>
                <a:ea typeface="Calibri" pitchFamily="34" charset="-122"/>
                <a:cs typeface="Calibri" pitchFamily="34" charset="-120"/>
              </a:rPr>
              <a:t>Zoomed into the typical range, most trips run 1 to 4 km, a normal short hop across the city. But the full data tells a different story: the median trip is 2.1 km, yet the longest one on record is </a:t>
            </a:r>
            <a:r>
              <a:rPr lang="en-US" dirty="0" smtClean="0"/>
              <a:t>12400 </a:t>
            </a:r>
            <a:r>
              <a:rPr lang="en-US" sz="1350" dirty="0" smtClean="0">
                <a:solidFill>
                  <a:srgbClr val="1E2530"/>
                </a:solidFill>
                <a:latin typeface="Calibri" pitchFamily="34" charset="0"/>
                <a:ea typeface="Calibri" pitchFamily="34" charset="-122"/>
                <a:cs typeface="Calibri" pitchFamily="34" charset="-120"/>
              </a:rPr>
              <a:t>km</a:t>
            </a:r>
            <a:r>
              <a:rPr lang="en-US" sz="1350" dirty="0">
                <a:solidFill>
                  <a:srgbClr val="1E253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7635240" y="5440680"/>
            <a:ext cx="3794760" cy="1051560"/>
          </a:xfrm>
          <a:prstGeom prst="roundRect">
            <a:avLst>
              <a:gd name="adj" fmla="val 6957"/>
            </a:avLst>
          </a:prstGeom>
          <a:solidFill>
            <a:srgbClr val="0B3D57"/>
          </a:solidFill>
          <a:ln/>
        </p:spPr>
      </p:sp>
      <p:sp>
        <p:nvSpPr>
          <p:cNvPr id="11" name="Shape 7"/>
          <p:cNvSpPr/>
          <p:nvPr/>
        </p:nvSpPr>
        <p:spPr>
          <a:xfrm>
            <a:off x="7818120" y="5623560"/>
            <a:ext cx="457200" cy="457200"/>
          </a:xfrm>
          <a:prstGeom prst="ellipse">
            <a:avLst/>
          </a:prstGeom>
          <a:solidFill>
            <a:srgbClr val="FFFFFF"/>
          </a:solidFill>
          <a:ln/>
        </p:spPr>
      </p:sp>
      <p:pic>
        <p:nvPicPr>
          <p:cNvPr id="12" name="Image 2" descr="preencoded.png"/>
          <p:cNvPicPr>
            <a:picLocks noChangeAspect="1"/>
          </p:cNvPicPr>
          <p:nvPr/>
        </p:nvPicPr>
        <p:blipFill>
          <a:blip r:embed="rId5"/>
          <a:stretch>
            <a:fillRect/>
          </a:stretch>
        </p:blipFill>
        <p:spPr>
          <a:xfrm>
            <a:off x="7936992" y="5742432"/>
            <a:ext cx="219456" cy="219456"/>
          </a:xfrm>
          <a:prstGeom prst="rect">
            <a:avLst/>
          </a:prstGeom>
        </p:spPr>
      </p:pic>
      <p:sp>
        <p:nvSpPr>
          <p:cNvPr id="13" name="Text 8"/>
          <p:cNvSpPr/>
          <p:nvPr/>
        </p:nvSpPr>
        <p:spPr>
          <a:xfrm>
            <a:off x="8366760" y="5577840"/>
            <a:ext cx="2926080" cy="274320"/>
          </a:xfrm>
          <a:prstGeom prst="rect">
            <a:avLst/>
          </a:prstGeom>
          <a:noFill/>
          <a:ln/>
        </p:spPr>
        <p:txBody>
          <a:bodyPr wrap="square" rtlCol="0" anchor="ctr"/>
          <a:lstStyle/>
          <a:p>
            <a:pPr marL="0" indent="0">
              <a:buNone/>
            </a:pPr>
            <a:r>
              <a:rPr lang="en-US" sz="1050" b="1" kern="0" spc="100" dirty="0">
                <a:solidFill>
                  <a:srgbClr val="F5A623"/>
                </a:solidFill>
                <a:latin typeface="Calibri" pitchFamily="34" charset="0"/>
                <a:ea typeface="Calibri" pitchFamily="34" charset="-122"/>
                <a:cs typeface="Calibri" pitchFamily="34" charset="-120"/>
              </a:rPr>
              <a:t>Worth flagging</a:t>
            </a:r>
            <a:endParaRPr lang="en-US" sz="1050" dirty="0"/>
          </a:p>
        </p:txBody>
      </p:sp>
      <p:sp>
        <p:nvSpPr>
          <p:cNvPr id="14" name="Text 9"/>
          <p:cNvSpPr/>
          <p:nvPr/>
        </p:nvSpPr>
        <p:spPr>
          <a:xfrm>
            <a:off x="8366760" y="5852160"/>
            <a:ext cx="2926080" cy="594360"/>
          </a:xfrm>
          <a:prstGeom prst="rect">
            <a:avLst/>
          </a:prstGeom>
          <a:noFill/>
          <a:ln/>
        </p:spPr>
        <p:txBody>
          <a:bodyPr wrap="square" rtlCol="0" anchor="ctr"/>
          <a:lstStyle/>
          <a:p>
            <a:pPr marL="0" indent="0">
              <a:buNone/>
            </a:pPr>
            <a:r>
              <a:rPr lang="en-US" sz="1050" dirty="0">
                <a:solidFill>
                  <a:srgbClr val="E3ECEF"/>
                </a:solidFill>
                <a:latin typeface="Calibri" pitchFamily="34" charset="0"/>
                <a:ea typeface="Calibri" pitchFamily="34" charset="-122"/>
                <a:cs typeface="Calibri" pitchFamily="34" charset="-120"/>
              </a:rPr>
              <a:t>An </a:t>
            </a:r>
            <a:r>
              <a:rPr lang="en-US" sz="1050" dirty="0" smtClean="0">
                <a:solidFill>
                  <a:srgbClr val="E3ECEF"/>
                </a:solidFill>
                <a:latin typeface="Calibri" pitchFamily="34" charset="0"/>
                <a:ea typeface="Calibri" pitchFamily="34" charset="-122"/>
                <a:cs typeface="Calibri" pitchFamily="34" charset="-120"/>
              </a:rPr>
              <a:t>12400</a:t>
            </a:r>
            <a:r>
              <a:rPr lang="en-US" sz="1050" dirty="0" smtClean="0">
                <a:solidFill>
                  <a:srgbClr val="E3ECEF"/>
                </a:solidFill>
                <a:latin typeface="Calibri" pitchFamily="34" charset="0"/>
                <a:ea typeface="Calibri" pitchFamily="34" charset="-122"/>
                <a:cs typeface="Calibri" pitchFamily="34" charset="-120"/>
              </a:rPr>
              <a:t> </a:t>
            </a:r>
            <a:r>
              <a:rPr lang="en-US" sz="1050" dirty="0">
                <a:solidFill>
                  <a:srgbClr val="E3ECEF"/>
                </a:solidFill>
                <a:latin typeface="Calibri" pitchFamily="34" charset="0"/>
                <a:ea typeface="Calibri" pitchFamily="34" charset="-122"/>
                <a:cs typeface="Calibri" pitchFamily="34" charset="-120"/>
              </a:rPr>
              <a:t>km trip isn't real. It's a GPS error we'll need to clean out before Task 2.</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KEY RELATIONSHIP</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Distance Is the Biggest Driver of Fare</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05</a:t>
            </a:r>
            <a:endParaRPr lang="en-US" sz="1000" dirty="0"/>
          </a:p>
        </p:txBody>
      </p:sp>
      <p:pic>
        <p:nvPicPr>
          <p:cNvPr id="5" name="Image 0" descr="/home/claude/nb_images/cell10_0.png"/>
          <p:cNvPicPr>
            <a:picLocks noChangeAspect="1"/>
          </p:cNvPicPr>
          <p:nvPr/>
        </p:nvPicPr>
        <p:blipFill>
          <a:blip r:embed="rId3"/>
          <a:stretch>
            <a:fillRect/>
          </a:stretch>
        </p:blipFill>
        <p:spPr>
          <a:xfrm>
            <a:off x="548640" y="1463040"/>
            <a:ext cx="6005857" cy="4114800"/>
          </a:xfrm>
          <a:prstGeom prst="rect">
            <a:avLst/>
          </a:prstGeom>
        </p:spPr>
      </p:pic>
      <p:sp>
        <p:nvSpPr>
          <p:cNvPr id="6" name="Shape 3"/>
          <p:cNvSpPr/>
          <p:nvPr/>
        </p:nvSpPr>
        <p:spPr>
          <a:xfrm>
            <a:off x="7040880" y="1463040"/>
            <a:ext cx="4297680" cy="4114800"/>
          </a:xfrm>
          <a:prstGeom prst="roundRect">
            <a:avLst>
              <a:gd name="adj" fmla="val 2222"/>
            </a:avLst>
          </a:prstGeom>
          <a:solidFill>
            <a:srgbClr val="0B3D57"/>
          </a:solidFill>
          <a:ln/>
        </p:spPr>
      </p:sp>
      <p:sp>
        <p:nvSpPr>
          <p:cNvPr id="7" name="Shape 4"/>
          <p:cNvSpPr/>
          <p:nvPr/>
        </p:nvSpPr>
        <p:spPr>
          <a:xfrm>
            <a:off x="7315200" y="1737360"/>
            <a:ext cx="594360" cy="594360"/>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7469734" y="1891894"/>
            <a:ext cx="285293" cy="285293"/>
          </a:xfrm>
          <a:prstGeom prst="rect">
            <a:avLst/>
          </a:prstGeom>
        </p:spPr>
      </p:pic>
      <p:sp>
        <p:nvSpPr>
          <p:cNvPr id="9" name="Text 5"/>
          <p:cNvSpPr/>
          <p:nvPr/>
        </p:nvSpPr>
        <p:spPr>
          <a:xfrm>
            <a:off x="7315200" y="2468880"/>
            <a:ext cx="3657600" cy="6400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strongest link we found</a:t>
            </a:r>
            <a:endParaRPr lang="en-US" sz="1600" dirty="0"/>
          </a:p>
        </p:txBody>
      </p:sp>
      <p:sp>
        <p:nvSpPr>
          <p:cNvPr id="10" name="Text 6"/>
          <p:cNvSpPr/>
          <p:nvPr/>
        </p:nvSpPr>
        <p:spPr>
          <a:xfrm>
            <a:off x="7315200" y="3246120"/>
            <a:ext cx="3657600" cy="2103120"/>
          </a:xfrm>
          <a:prstGeom prst="rect">
            <a:avLst/>
          </a:prstGeom>
          <a:noFill/>
          <a:ln/>
        </p:spPr>
        <p:txBody>
          <a:bodyPr wrap="square" rtlCol="0" anchor="ctr"/>
          <a:lstStyle/>
          <a:p>
            <a:pPr marL="0" indent="0">
              <a:lnSpc>
                <a:spcPct val="125000"/>
              </a:lnSpc>
              <a:buNone/>
            </a:pPr>
            <a:r>
              <a:rPr lang="en-US" sz="1300" dirty="0">
                <a:solidFill>
                  <a:srgbClr val="E3ECEF"/>
                </a:solidFill>
                <a:latin typeface="Calibri" pitchFamily="34" charset="0"/>
                <a:ea typeface="Calibri" pitchFamily="34" charset="-122"/>
                <a:cs typeface="Calibri" pitchFamily="34" charset="-120"/>
              </a:rPr>
              <a:t>We checked every numeric feature against fare. Distance came out clearly on top, far ahead of anything else, including passenger count, hour, and even the airport-distance columns.</a:t>
            </a:r>
            <a:endParaRPr lang="en-US" sz="1300" dirty="0"/>
          </a:p>
        </p:txBody>
      </p:sp>
      <p:sp>
        <p:nvSpPr>
          <p:cNvPr id="11" name="Shape 7"/>
          <p:cNvSpPr/>
          <p:nvPr/>
        </p:nvSpPr>
        <p:spPr>
          <a:xfrm>
            <a:off x="548640" y="5760720"/>
            <a:ext cx="7315200" cy="1005840"/>
          </a:xfrm>
          <a:prstGeom prst="roundRect">
            <a:avLst>
              <a:gd name="adj" fmla="val 8889"/>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12" name="Text 8"/>
          <p:cNvSpPr/>
          <p:nvPr/>
        </p:nvSpPr>
        <p:spPr>
          <a:xfrm>
            <a:off x="777240" y="5907024"/>
            <a:ext cx="685800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WHAT IT MEANS</a:t>
            </a:r>
            <a:endParaRPr lang="en-US" sz="1100" dirty="0"/>
          </a:p>
        </p:txBody>
      </p:sp>
      <p:sp>
        <p:nvSpPr>
          <p:cNvPr id="13" name="Text 9"/>
          <p:cNvSpPr/>
          <p:nvPr/>
        </p:nvSpPr>
        <p:spPr>
          <a:xfrm>
            <a:off x="777240" y="6108192"/>
            <a:ext cx="6858000" cy="182880"/>
          </a:xfrm>
          <a:prstGeom prst="rect">
            <a:avLst/>
          </a:prstGeom>
          <a:noFill/>
          <a:ln/>
        </p:spPr>
        <p:txBody>
          <a:bodyPr wrap="square" rtlCol="0" anchor="t"/>
          <a:lstStyle/>
          <a:p>
            <a:pPr marL="0" indent="0">
              <a:lnSpc>
                <a:spcPct val="115000"/>
              </a:lnSpc>
              <a:buNone/>
            </a:pPr>
            <a:r>
              <a:rPr lang="en-US" sz="1350" dirty="0">
                <a:solidFill>
                  <a:srgbClr val="1E2530"/>
                </a:solidFill>
                <a:latin typeface="Calibri" pitchFamily="34" charset="0"/>
                <a:ea typeface="Calibri" pitchFamily="34" charset="-122"/>
                <a:cs typeface="Calibri" pitchFamily="34" charset="-120"/>
              </a:rPr>
              <a:t>As distance goes up, fare goes up with it in a steady, almost straight line. This makes distance the single most useful feature to build the model around in Task 2.</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5928"/>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WHAT DOESN'T MOVE THE PRICE</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Three Things That Barely Affect Fare</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548640" y="1371600"/>
            <a:ext cx="10881360" cy="502920"/>
          </a:xfrm>
          <a:prstGeom prst="rect">
            <a:avLst/>
          </a:prstGeom>
          <a:noFill/>
          <a:ln/>
        </p:spPr>
        <p:txBody>
          <a:bodyPr wrap="square" rtlCol="0" anchor="ctr"/>
          <a:lstStyle/>
          <a:p>
            <a:pPr marL="0" indent="0">
              <a:buNone/>
            </a:pPr>
            <a:r>
              <a:rPr lang="en-US" sz="1350" i="1" dirty="0">
                <a:solidFill>
                  <a:srgbClr val="5B6B78"/>
                </a:solidFill>
                <a:latin typeface="Calibri" pitchFamily="34" charset="0"/>
                <a:ea typeface="Calibri" pitchFamily="34" charset="-122"/>
                <a:cs typeface="Calibri" pitchFamily="34" charset="-120"/>
              </a:rPr>
              <a:t>We also checked passenger count, car condition, and traffic condition against fare. All three came back nearly flat.</a:t>
            </a:r>
            <a:endParaRPr lang="en-US" sz="1350" dirty="0"/>
          </a:p>
        </p:txBody>
      </p:sp>
      <p:sp>
        <p:nvSpPr>
          <p:cNvPr id="6" name="Shape 4"/>
          <p:cNvSpPr/>
          <p:nvPr/>
        </p:nvSpPr>
        <p:spPr>
          <a:xfrm>
            <a:off x="518684" y="1783080"/>
            <a:ext cx="3566160" cy="3566160"/>
          </a:xfrm>
          <a:prstGeom prst="roundRect">
            <a:avLst>
              <a:gd name="adj" fmla="val 2308"/>
            </a:avLst>
          </a:prstGeom>
          <a:solidFill>
            <a:srgbClr val="F4F7F8"/>
          </a:solidFill>
          <a:ln w="12700">
            <a:solidFill>
              <a:srgbClr val="E3E9EB"/>
            </a:solidFill>
            <a:prstDash val="solid"/>
          </a:ln>
          <a:effectLst>
            <a:outerShdw blurRad="76200" dist="25400" dir="5400000" algn="bl" rotWithShape="0">
              <a:srgbClr val="1E2530">
                <a:alpha val="6000"/>
              </a:srgbClr>
            </a:outerShdw>
          </a:effectLst>
        </p:spPr>
      </p:sp>
      <p:sp>
        <p:nvSpPr>
          <p:cNvPr id="7" name="Shape 5"/>
          <p:cNvSpPr/>
          <p:nvPr/>
        </p:nvSpPr>
        <p:spPr>
          <a:xfrm>
            <a:off x="1936004" y="1927555"/>
            <a:ext cx="731520" cy="731520"/>
          </a:xfrm>
          <a:prstGeom prst="ellipse">
            <a:avLst/>
          </a:prstGeom>
          <a:solidFill>
            <a:srgbClr val="FFFFFF"/>
          </a:solidFill>
          <a:ln/>
        </p:spPr>
      </p:sp>
      <p:pic>
        <p:nvPicPr>
          <p:cNvPr id="8" name="Image 0" descr="preencoded.png"/>
          <p:cNvPicPr>
            <a:picLocks noChangeAspect="1"/>
          </p:cNvPicPr>
          <p:nvPr/>
        </p:nvPicPr>
        <p:blipFill>
          <a:blip r:embed="rId3"/>
          <a:stretch>
            <a:fillRect/>
          </a:stretch>
        </p:blipFill>
        <p:spPr>
          <a:xfrm>
            <a:off x="2126199" y="2119523"/>
            <a:ext cx="351130" cy="351130"/>
          </a:xfrm>
          <a:prstGeom prst="rect">
            <a:avLst/>
          </a:prstGeom>
        </p:spPr>
      </p:pic>
      <p:sp>
        <p:nvSpPr>
          <p:cNvPr id="9" name="Text 6"/>
          <p:cNvSpPr/>
          <p:nvPr/>
        </p:nvSpPr>
        <p:spPr>
          <a:xfrm>
            <a:off x="739851" y="2547735"/>
            <a:ext cx="3200400" cy="502920"/>
          </a:xfrm>
          <a:prstGeom prst="rect">
            <a:avLst/>
          </a:prstGeom>
          <a:noFill/>
          <a:ln/>
        </p:spPr>
        <p:txBody>
          <a:bodyPr wrap="square" rtlCol="0" anchor="ctr"/>
          <a:lstStyle/>
          <a:p>
            <a:pPr marL="0" indent="0" algn="ctr">
              <a:buNone/>
            </a:pPr>
            <a:r>
              <a:rPr lang="en-US" sz="1600" b="1" dirty="0">
                <a:solidFill>
                  <a:srgbClr val="0B3D57"/>
                </a:solidFill>
                <a:latin typeface="Cambria" pitchFamily="34" charset="0"/>
                <a:ea typeface="Cambria" pitchFamily="34" charset="-122"/>
                <a:cs typeface="Cambria" pitchFamily="34" charset="-120"/>
              </a:rPr>
              <a:t>Passenger Count</a:t>
            </a:r>
            <a:endParaRPr lang="en-US" sz="1600" dirty="0"/>
          </a:p>
        </p:txBody>
      </p:sp>
      <p:sp>
        <p:nvSpPr>
          <p:cNvPr id="10" name="Text 7"/>
          <p:cNvSpPr/>
          <p:nvPr/>
        </p:nvSpPr>
        <p:spPr>
          <a:xfrm>
            <a:off x="731520" y="2882133"/>
            <a:ext cx="3200400" cy="457200"/>
          </a:xfrm>
          <a:prstGeom prst="rect">
            <a:avLst/>
          </a:prstGeom>
          <a:noFill/>
          <a:ln/>
        </p:spPr>
        <p:txBody>
          <a:bodyPr wrap="square" rtlCol="0" anchor="ctr"/>
          <a:lstStyle/>
          <a:p>
            <a:pPr marL="0" indent="0" algn="ctr">
              <a:buNone/>
            </a:pPr>
            <a:r>
              <a:rPr lang="en-US" sz="1600" b="1" dirty="0" smtClean="0">
                <a:solidFill>
                  <a:srgbClr val="F5A623"/>
                </a:solidFill>
                <a:latin typeface="Cambria" pitchFamily="34" charset="0"/>
                <a:ea typeface="Cambria" pitchFamily="34" charset="-122"/>
                <a:cs typeface="Cambria" pitchFamily="34" charset="-120"/>
              </a:rPr>
              <a:t>$9.02 to $12.32</a:t>
            </a:r>
            <a:endParaRPr lang="en-US" sz="1600" dirty="0"/>
          </a:p>
        </p:txBody>
      </p:sp>
      <p:sp>
        <p:nvSpPr>
          <p:cNvPr id="11" name="Text 8"/>
          <p:cNvSpPr/>
          <p:nvPr/>
        </p:nvSpPr>
        <p:spPr>
          <a:xfrm>
            <a:off x="831291" y="3225033"/>
            <a:ext cx="3017520" cy="1051560"/>
          </a:xfrm>
          <a:prstGeom prst="rect">
            <a:avLst/>
          </a:prstGeom>
          <a:noFill/>
          <a:ln/>
        </p:spPr>
        <p:txBody>
          <a:bodyPr wrap="square" rtlCol="0" anchor="t"/>
          <a:lstStyle/>
          <a:p>
            <a:pPr marL="0" indent="0" algn="l">
              <a:lnSpc>
                <a:spcPct val="115000"/>
              </a:lnSpc>
              <a:buNone/>
            </a:pPr>
            <a:r>
              <a:rPr lang="en-US" sz="1200" dirty="0">
                <a:solidFill>
                  <a:srgbClr val="1E2530"/>
                </a:solidFill>
                <a:latin typeface="Calibri" pitchFamily="34" charset="0"/>
                <a:ea typeface="Calibri" pitchFamily="34" charset="-122"/>
                <a:cs typeface="Calibri" pitchFamily="34" charset="-120"/>
              </a:rPr>
              <a:t>Whether it's 1 passenger or 6, the fare stays about the same. Uber charges per trip, not per person, and it shows.</a:t>
            </a:r>
            <a:endParaRPr lang="en-US" sz="1200" dirty="0"/>
          </a:p>
        </p:txBody>
      </p:sp>
      <p:sp>
        <p:nvSpPr>
          <p:cNvPr id="12" name="Shape 9"/>
          <p:cNvSpPr/>
          <p:nvPr/>
        </p:nvSpPr>
        <p:spPr>
          <a:xfrm>
            <a:off x="4434840" y="1783080"/>
            <a:ext cx="3566160" cy="3566160"/>
          </a:xfrm>
          <a:prstGeom prst="roundRect">
            <a:avLst>
              <a:gd name="adj" fmla="val 2308"/>
            </a:avLst>
          </a:prstGeom>
          <a:solidFill>
            <a:srgbClr val="F4F7F8"/>
          </a:solidFill>
          <a:ln w="12700">
            <a:solidFill>
              <a:srgbClr val="E3E9EB"/>
            </a:solidFill>
            <a:prstDash val="solid"/>
          </a:ln>
          <a:effectLst>
            <a:outerShdw blurRad="76200" dist="25400" dir="5400000" algn="bl" rotWithShape="0">
              <a:srgbClr val="1E2530">
                <a:alpha val="6000"/>
              </a:srgbClr>
            </a:outerShdw>
          </a:effectLst>
        </p:spPr>
      </p:sp>
      <p:sp>
        <p:nvSpPr>
          <p:cNvPr id="13" name="Shape 10"/>
          <p:cNvSpPr/>
          <p:nvPr/>
        </p:nvSpPr>
        <p:spPr>
          <a:xfrm>
            <a:off x="5852160" y="1874520"/>
            <a:ext cx="731520" cy="731520"/>
          </a:xfrm>
          <a:prstGeom prst="ellipse">
            <a:avLst/>
          </a:prstGeom>
          <a:solidFill>
            <a:srgbClr val="FFFFFF"/>
          </a:solidFill>
          <a:ln/>
        </p:spPr>
      </p:sp>
      <p:pic>
        <p:nvPicPr>
          <p:cNvPr id="14" name="Image 1" descr="preencoded.png"/>
          <p:cNvPicPr>
            <a:picLocks noChangeAspect="1"/>
          </p:cNvPicPr>
          <p:nvPr/>
        </p:nvPicPr>
        <p:blipFill>
          <a:blip r:embed="rId4"/>
          <a:stretch>
            <a:fillRect/>
          </a:stretch>
        </p:blipFill>
        <p:spPr>
          <a:xfrm>
            <a:off x="6076604" y="2006423"/>
            <a:ext cx="351130" cy="351130"/>
          </a:xfrm>
          <a:prstGeom prst="rect">
            <a:avLst/>
          </a:prstGeom>
        </p:spPr>
      </p:pic>
      <p:sp>
        <p:nvSpPr>
          <p:cNvPr id="15" name="Text 11"/>
          <p:cNvSpPr/>
          <p:nvPr/>
        </p:nvSpPr>
        <p:spPr>
          <a:xfrm>
            <a:off x="4648911" y="2468880"/>
            <a:ext cx="3200400" cy="502920"/>
          </a:xfrm>
          <a:prstGeom prst="rect">
            <a:avLst/>
          </a:prstGeom>
          <a:noFill/>
          <a:ln/>
        </p:spPr>
        <p:txBody>
          <a:bodyPr wrap="square" rtlCol="0" anchor="ctr"/>
          <a:lstStyle/>
          <a:p>
            <a:pPr marL="0" indent="0" algn="ctr">
              <a:buNone/>
            </a:pPr>
            <a:r>
              <a:rPr lang="en-US" sz="1600" b="1" dirty="0">
                <a:solidFill>
                  <a:srgbClr val="0B3D57"/>
                </a:solidFill>
                <a:latin typeface="Cambria" pitchFamily="34" charset="0"/>
                <a:ea typeface="Cambria" pitchFamily="34" charset="-122"/>
                <a:cs typeface="Cambria" pitchFamily="34" charset="-120"/>
              </a:rPr>
              <a:t>Car Condition</a:t>
            </a:r>
            <a:endParaRPr lang="en-US" sz="1600" dirty="0"/>
          </a:p>
        </p:txBody>
      </p:sp>
      <p:sp>
        <p:nvSpPr>
          <p:cNvPr id="16" name="Text 12"/>
          <p:cNvSpPr/>
          <p:nvPr/>
        </p:nvSpPr>
        <p:spPr>
          <a:xfrm>
            <a:off x="4679728" y="2810279"/>
            <a:ext cx="3200400" cy="457200"/>
          </a:xfrm>
          <a:prstGeom prst="rect">
            <a:avLst/>
          </a:prstGeom>
          <a:noFill/>
          <a:ln/>
        </p:spPr>
        <p:txBody>
          <a:bodyPr wrap="square" rtlCol="0" anchor="ctr"/>
          <a:lstStyle/>
          <a:p>
            <a:pPr marL="0" indent="0" algn="ctr">
              <a:buNone/>
            </a:pPr>
            <a:r>
              <a:rPr lang="en-US" sz="1600" b="1" dirty="0">
                <a:solidFill>
                  <a:srgbClr val="F5A623"/>
                </a:solidFill>
                <a:latin typeface="Cambria" pitchFamily="34" charset="0"/>
                <a:ea typeface="Cambria" pitchFamily="34" charset="-122"/>
                <a:cs typeface="Cambria" pitchFamily="34" charset="-120"/>
              </a:rPr>
              <a:t>$11.19 to $11.54</a:t>
            </a:r>
            <a:endParaRPr lang="en-US" sz="1600" dirty="0"/>
          </a:p>
        </p:txBody>
      </p:sp>
      <p:sp>
        <p:nvSpPr>
          <p:cNvPr id="17" name="Text 13"/>
          <p:cNvSpPr/>
          <p:nvPr/>
        </p:nvSpPr>
        <p:spPr>
          <a:xfrm>
            <a:off x="4808913" y="3112000"/>
            <a:ext cx="3017520" cy="1051560"/>
          </a:xfrm>
          <a:prstGeom prst="rect">
            <a:avLst/>
          </a:prstGeom>
          <a:noFill/>
          <a:ln/>
        </p:spPr>
        <p:txBody>
          <a:bodyPr wrap="square" rtlCol="0" anchor="t"/>
          <a:lstStyle/>
          <a:p>
            <a:pPr marL="0" indent="0" algn="l">
              <a:lnSpc>
                <a:spcPct val="115000"/>
              </a:lnSpc>
              <a:buNone/>
            </a:pPr>
            <a:r>
              <a:rPr lang="en-US" sz="1200" dirty="0">
                <a:solidFill>
                  <a:srgbClr val="1E2530"/>
                </a:solidFill>
                <a:latin typeface="Calibri" pitchFamily="34" charset="0"/>
                <a:ea typeface="Calibri" pitchFamily="34" charset="-122"/>
                <a:cs typeface="Calibri" pitchFamily="34" charset="-120"/>
              </a:rPr>
              <a:t>Average fare for Bad, Good, Excellent, and Very Good cars all sit within about 35 cents of each other. Condition just doesn't move the price.</a:t>
            </a:r>
            <a:endParaRPr lang="en-US" sz="1200" dirty="0"/>
          </a:p>
        </p:txBody>
      </p:sp>
      <p:sp>
        <p:nvSpPr>
          <p:cNvPr id="18" name="Shape 14"/>
          <p:cNvSpPr/>
          <p:nvPr/>
        </p:nvSpPr>
        <p:spPr>
          <a:xfrm>
            <a:off x="8321040" y="1783080"/>
            <a:ext cx="3566160" cy="3566160"/>
          </a:xfrm>
          <a:prstGeom prst="roundRect">
            <a:avLst>
              <a:gd name="adj" fmla="val 2308"/>
            </a:avLst>
          </a:prstGeom>
          <a:solidFill>
            <a:srgbClr val="F4F7F8"/>
          </a:solidFill>
          <a:ln w="12700">
            <a:solidFill>
              <a:srgbClr val="E3E9EB"/>
            </a:solidFill>
            <a:prstDash val="solid"/>
          </a:ln>
          <a:effectLst>
            <a:outerShdw blurRad="76200" dist="25400" dir="5400000" algn="bl" rotWithShape="0">
              <a:srgbClr val="1E2530">
                <a:alpha val="6000"/>
              </a:srgbClr>
            </a:outerShdw>
          </a:effectLst>
        </p:spPr>
      </p:sp>
      <p:sp>
        <p:nvSpPr>
          <p:cNvPr id="19" name="Shape 15"/>
          <p:cNvSpPr/>
          <p:nvPr/>
        </p:nvSpPr>
        <p:spPr>
          <a:xfrm>
            <a:off x="9738360" y="1832458"/>
            <a:ext cx="731520" cy="731520"/>
          </a:xfrm>
          <a:prstGeom prst="ellipse">
            <a:avLst/>
          </a:prstGeom>
          <a:solidFill>
            <a:srgbClr val="FFFFFF"/>
          </a:solidFill>
          <a:ln/>
        </p:spPr>
      </p:sp>
      <p:pic>
        <p:nvPicPr>
          <p:cNvPr id="20" name="Image 2" descr="preencoded.png"/>
          <p:cNvPicPr>
            <a:picLocks noChangeAspect="1"/>
          </p:cNvPicPr>
          <p:nvPr/>
        </p:nvPicPr>
        <p:blipFill>
          <a:blip r:embed="rId5"/>
          <a:stretch>
            <a:fillRect/>
          </a:stretch>
        </p:blipFill>
        <p:spPr>
          <a:xfrm>
            <a:off x="9932711" y="2019544"/>
            <a:ext cx="351130" cy="351130"/>
          </a:xfrm>
          <a:prstGeom prst="rect">
            <a:avLst/>
          </a:prstGeom>
        </p:spPr>
      </p:pic>
      <p:sp>
        <p:nvSpPr>
          <p:cNvPr id="21" name="Text 16"/>
          <p:cNvSpPr/>
          <p:nvPr/>
        </p:nvSpPr>
        <p:spPr>
          <a:xfrm>
            <a:off x="8507857" y="2446610"/>
            <a:ext cx="3200400" cy="502920"/>
          </a:xfrm>
          <a:prstGeom prst="rect">
            <a:avLst/>
          </a:prstGeom>
          <a:noFill/>
          <a:ln/>
        </p:spPr>
        <p:txBody>
          <a:bodyPr wrap="square" rtlCol="0" anchor="ctr"/>
          <a:lstStyle/>
          <a:p>
            <a:pPr marL="0" indent="0" algn="ctr">
              <a:buNone/>
            </a:pPr>
            <a:r>
              <a:rPr lang="en-US" sz="1600" b="1" dirty="0">
                <a:solidFill>
                  <a:srgbClr val="0B3D57"/>
                </a:solidFill>
                <a:latin typeface="Cambria" pitchFamily="34" charset="0"/>
                <a:ea typeface="Cambria" pitchFamily="34" charset="-122"/>
                <a:cs typeface="Cambria" pitchFamily="34" charset="-120"/>
              </a:rPr>
              <a:t>Traffic Condition</a:t>
            </a:r>
            <a:endParaRPr lang="en-US" sz="1600" dirty="0"/>
          </a:p>
        </p:txBody>
      </p:sp>
      <p:sp>
        <p:nvSpPr>
          <p:cNvPr id="22" name="Text 17"/>
          <p:cNvSpPr/>
          <p:nvPr/>
        </p:nvSpPr>
        <p:spPr>
          <a:xfrm>
            <a:off x="8503920" y="2799195"/>
            <a:ext cx="3200400" cy="457200"/>
          </a:xfrm>
          <a:prstGeom prst="rect">
            <a:avLst/>
          </a:prstGeom>
          <a:noFill/>
          <a:ln/>
        </p:spPr>
        <p:txBody>
          <a:bodyPr wrap="square" rtlCol="0" anchor="ctr"/>
          <a:lstStyle/>
          <a:p>
            <a:pPr marL="0" indent="0" algn="ctr">
              <a:buNone/>
            </a:pPr>
            <a:r>
              <a:rPr lang="en-US" sz="1600" b="1" dirty="0">
                <a:solidFill>
                  <a:srgbClr val="F5A623"/>
                </a:solidFill>
                <a:latin typeface="Cambria" pitchFamily="34" charset="0"/>
                <a:ea typeface="Cambria" pitchFamily="34" charset="-122"/>
                <a:cs typeface="Cambria" pitchFamily="34" charset="-120"/>
              </a:rPr>
              <a:t>$11.27 to $11.43</a:t>
            </a:r>
            <a:endParaRPr lang="en-US" sz="1600" dirty="0"/>
          </a:p>
        </p:txBody>
      </p:sp>
      <p:sp>
        <p:nvSpPr>
          <p:cNvPr id="23" name="Text 18"/>
          <p:cNvSpPr/>
          <p:nvPr/>
        </p:nvSpPr>
        <p:spPr>
          <a:xfrm>
            <a:off x="8681258" y="3144278"/>
            <a:ext cx="3017520" cy="1051560"/>
          </a:xfrm>
          <a:prstGeom prst="rect">
            <a:avLst/>
          </a:prstGeom>
          <a:noFill/>
          <a:ln/>
        </p:spPr>
        <p:txBody>
          <a:bodyPr wrap="square" rtlCol="0" anchor="t"/>
          <a:lstStyle/>
          <a:p>
            <a:pPr marL="0" indent="0" algn="l">
              <a:lnSpc>
                <a:spcPct val="115000"/>
              </a:lnSpc>
              <a:buNone/>
            </a:pPr>
            <a:r>
              <a:rPr lang="en-US" sz="1200" dirty="0">
                <a:solidFill>
                  <a:srgbClr val="1E2530"/>
                </a:solidFill>
                <a:latin typeface="Calibri" pitchFamily="34" charset="0"/>
                <a:ea typeface="Calibri" pitchFamily="34" charset="-122"/>
                <a:cs typeface="Calibri" pitchFamily="34" charset="-120"/>
              </a:rPr>
              <a:t>Congested, Dense, and Flow traffic barely differ in average fare, even though heavier traffic usually means a longer, pricier ride.</a:t>
            </a:r>
            <a:endParaRPr lang="en-US" sz="1200" dirty="0"/>
          </a:p>
        </p:txBody>
      </p:sp>
      <p:pic>
        <p:nvPicPr>
          <p:cNvPr id="24" name="Picture 23"/>
          <p:cNvPicPr>
            <a:picLocks noChangeAspect="1"/>
          </p:cNvPicPr>
          <p:nvPr/>
        </p:nvPicPr>
        <p:blipFill>
          <a:blip r:embed="rId6"/>
          <a:stretch>
            <a:fillRect/>
          </a:stretch>
        </p:blipFill>
        <p:spPr>
          <a:xfrm>
            <a:off x="8130184" y="3879139"/>
            <a:ext cx="4061815" cy="2940201"/>
          </a:xfrm>
          <a:prstGeom prst="rect">
            <a:avLst/>
          </a:prstGeom>
        </p:spPr>
      </p:pic>
      <p:pic>
        <p:nvPicPr>
          <p:cNvPr id="26" name="Picture 25"/>
          <p:cNvPicPr>
            <a:picLocks noChangeAspect="1"/>
          </p:cNvPicPr>
          <p:nvPr/>
        </p:nvPicPr>
        <p:blipFill>
          <a:blip r:embed="rId7"/>
          <a:stretch>
            <a:fillRect/>
          </a:stretch>
        </p:blipFill>
        <p:spPr>
          <a:xfrm>
            <a:off x="58188" y="3945974"/>
            <a:ext cx="4097688" cy="2902099"/>
          </a:xfrm>
          <a:prstGeom prst="rect">
            <a:avLst/>
          </a:prstGeom>
        </p:spPr>
      </p:pic>
      <p:pic>
        <p:nvPicPr>
          <p:cNvPr id="27" name="Picture 26"/>
          <p:cNvPicPr>
            <a:picLocks noChangeAspect="1"/>
          </p:cNvPicPr>
          <p:nvPr/>
        </p:nvPicPr>
        <p:blipFill>
          <a:blip r:embed="rId8"/>
          <a:stretch>
            <a:fillRect/>
          </a:stretch>
        </p:blipFill>
        <p:spPr>
          <a:xfrm>
            <a:off x="4161418" y="3945974"/>
            <a:ext cx="3989212" cy="2921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AIRPORT RIDES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Are Airport Rides Really More Expensive?</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07</a:t>
            </a:r>
            <a:endParaRPr lang="en-US" sz="1000" dirty="0"/>
          </a:p>
        </p:txBody>
      </p:sp>
      <p:pic>
        <p:nvPicPr>
          <p:cNvPr id="5" name="Image 0" descr="/home/claude/nb_images/cell23_0.png"/>
          <p:cNvPicPr>
            <a:picLocks noChangeAspect="1"/>
          </p:cNvPicPr>
          <p:nvPr/>
        </p:nvPicPr>
        <p:blipFill>
          <a:blip r:embed="rId3"/>
          <a:stretch>
            <a:fillRect/>
          </a:stretch>
        </p:blipFill>
        <p:spPr>
          <a:xfrm>
            <a:off x="548640" y="1417320"/>
            <a:ext cx="6139321" cy="4206240"/>
          </a:xfrm>
          <a:prstGeom prst="rect">
            <a:avLst/>
          </a:prstGeom>
        </p:spPr>
      </p:pic>
      <p:sp>
        <p:nvSpPr>
          <p:cNvPr id="6" name="Shape 3"/>
          <p:cNvSpPr/>
          <p:nvPr/>
        </p:nvSpPr>
        <p:spPr>
          <a:xfrm>
            <a:off x="7818120" y="1417320"/>
            <a:ext cx="3520440" cy="4206240"/>
          </a:xfrm>
          <a:prstGeom prst="roundRect">
            <a:avLst>
              <a:gd name="adj" fmla="val 2597"/>
            </a:avLst>
          </a:prstGeom>
          <a:solidFill>
            <a:srgbClr val="0B3D57"/>
          </a:solidFill>
          <a:ln/>
        </p:spPr>
      </p:sp>
      <p:sp>
        <p:nvSpPr>
          <p:cNvPr id="7" name="Shape 4"/>
          <p:cNvSpPr/>
          <p:nvPr/>
        </p:nvSpPr>
        <p:spPr>
          <a:xfrm>
            <a:off x="8092440" y="1691640"/>
            <a:ext cx="594360" cy="594360"/>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8246974" y="1846174"/>
            <a:ext cx="285293" cy="285293"/>
          </a:xfrm>
          <a:prstGeom prst="rect">
            <a:avLst/>
          </a:prstGeom>
        </p:spPr>
      </p:pic>
      <p:sp>
        <p:nvSpPr>
          <p:cNvPr id="9" name="Text 5"/>
          <p:cNvSpPr/>
          <p:nvPr/>
        </p:nvSpPr>
        <p:spPr>
          <a:xfrm>
            <a:off x="8778240" y="1753156"/>
            <a:ext cx="3017520" cy="54864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Why we grouped it into bins</a:t>
            </a:r>
            <a:endParaRPr lang="en-US" sz="1400" dirty="0"/>
          </a:p>
        </p:txBody>
      </p:sp>
      <p:sp>
        <p:nvSpPr>
          <p:cNvPr id="10" name="Text 6"/>
          <p:cNvSpPr/>
          <p:nvPr/>
        </p:nvSpPr>
        <p:spPr>
          <a:xfrm>
            <a:off x="8251690" y="2320103"/>
            <a:ext cx="3017520" cy="1251906"/>
          </a:xfrm>
          <a:prstGeom prst="rect">
            <a:avLst/>
          </a:prstGeom>
          <a:noFill/>
          <a:ln/>
        </p:spPr>
        <p:txBody>
          <a:bodyPr wrap="square" rtlCol="0" anchor="ctr"/>
          <a:lstStyle/>
          <a:p>
            <a:pPr marL="0" indent="0">
              <a:lnSpc>
                <a:spcPct val="115000"/>
              </a:lnSpc>
              <a:buNone/>
            </a:pPr>
            <a:r>
              <a:rPr lang="en-US" sz="1150" dirty="0">
                <a:solidFill>
                  <a:srgbClr val="E3ECEF"/>
                </a:solidFill>
                <a:latin typeface="Calibri" pitchFamily="34" charset="0"/>
                <a:ea typeface="Calibri" pitchFamily="34" charset="-122"/>
                <a:cs typeface="Calibri" pitchFamily="34" charset="-120"/>
              </a:rPr>
              <a:t>The raw distance-to-JFK column had some wild outliers, up to 30,000 km, when the real range should be about 1 to 44 km. A scatter plot was unreadable, so we grouped distances into simple bands (under 5km, 5 to 20km, and so on) and compared the average fare in each.</a:t>
            </a:r>
            <a:endParaRPr lang="en-US" sz="1150" dirty="0"/>
          </a:p>
        </p:txBody>
      </p:sp>
      <p:sp>
        <p:nvSpPr>
          <p:cNvPr id="11" name="Shape 7"/>
          <p:cNvSpPr/>
          <p:nvPr/>
        </p:nvSpPr>
        <p:spPr>
          <a:xfrm>
            <a:off x="548640" y="5806440"/>
            <a:ext cx="10789920" cy="960120"/>
          </a:xfrm>
          <a:prstGeom prst="roundRect">
            <a:avLst>
              <a:gd name="adj" fmla="val 9412"/>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12" name="Text 8"/>
          <p:cNvSpPr/>
          <p:nvPr/>
        </p:nvSpPr>
        <p:spPr>
          <a:xfrm>
            <a:off x="777240" y="5952744"/>
            <a:ext cx="1033272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WHAT IT MEANS</a:t>
            </a:r>
            <a:endParaRPr lang="en-US" sz="1100" dirty="0"/>
          </a:p>
        </p:txBody>
      </p:sp>
      <p:sp>
        <p:nvSpPr>
          <p:cNvPr id="13" name="Text 9"/>
          <p:cNvSpPr/>
          <p:nvPr/>
        </p:nvSpPr>
        <p:spPr>
          <a:xfrm>
            <a:off x="777240" y="6158483"/>
            <a:ext cx="10332720" cy="499263"/>
          </a:xfrm>
          <a:prstGeom prst="rect">
            <a:avLst/>
          </a:prstGeom>
          <a:noFill/>
          <a:ln/>
        </p:spPr>
        <p:txBody>
          <a:bodyPr wrap="square" rtlCol="0" anchor="t"/>
          <a:lstStyle/>
          <a:p>
            <a:pPr marL="0" indent="0">
              <a:lnSpc>
                <a:spcPct val="115000"/>
              </a:lnSpc>
              <a:buNone/>
            </a:pPr>
            <a:r>
              <a:rPr lang="en-US" sz="1350" dirty="0" smtClean="0"/>
              <a:t>The average fare doesn’t rise smoothly with distance JFK , it jumps around instead. This points to </a:t>
            </a:r>
            <a:r>
              <a:rPr lang="en-US" sz="1350" dirty="0" err="1" smtClean="0"/>
              <a:t>jfk_dist</a:t>
            </a:r>
            <a:r>
              <a:rPr lang="en-US" sz="1350" dirty="0" smtClean="0"/>
              <a:t> having same data quality issues as distance , some values likely don’t reflect real distances. So this is another cleanup flag for Task 2 , not a real pricing problem</a:t>
            </a:r>
            <a:endParaRPr lang="en-US" sz="1350" dirty="0"/>
          </a:p>
        </p:txBody>
      </p:sp>
      <p:sp>
        <p:nvSpPr>
          <p:cNvPr id="16" name="Rectangle 15"/>
          <p:cNvSpPr/>
          <p:nvPr/>
        </p:nvSpPr>
        <p:spPr>
          <a:xfrm>
            <a:off x="8686800" y="3887595"/>
            <a:ext cx="1471878" cy="307777"/>
          </a:xfrm>
          <a:prstGeom prst="rect">
            <a:avLst/>
          </a:prstGeom>
        </p:spPr>
        <p:txBody>
          <a:bodyPr wrap="none">
            <a:spAutoFit/>
          </a:bodyPr>
          <a:lstStyle/>
          <a:p>
            <a:r>
              <a:rPr lang="en-US" sz="1400" b="1" kern="0" spc="100" dirty="0">
                <a:solidFill>
                  <a:srgbClr val="F5A623"/>
                </a:solidFill>
                <a:latin typeface="Calibri" pitchFamily="34" charset="0"/>
                <a:ea typeface="Calibri" pitchFamily="34" charset="-122"/>
                <a:cs typeface="Calibri" pitchFamily="34" charset="-120"/>
              </a:rPr>
              <a:t>Worth flagging</a:t>
            </a:r>
            <a:endParaRPr lang="en-US" sz="1400" dirty="0"/>
          </a:p>
        </p:txBody>
      </p:sp>
      <p:sp>
        <p:nvSpPr>
          <p:cNvPr id="17" name="Shape 4"/>
          <p:cNvSpPr/>
          <p:nvPr/>
        </p:nvSpPr>
        <p:spPr>
          <a:xfrm>
            <a:off x="8024736" y="3657600"/>
            <a:ext cx="594360" cy="594360"/>
          </a:xfrm>
          <a:prstGeom prst="ellipse">
            <a:avLst/>
          </a:prstGeom>
          <a:solidFill>
            <a:srgbClr val="FFFFFF"/>
          </a:solidFill>
          <a:ln/>
        </p:spPr>
      </p:sp>
      <p:pic>
        <p:nvPicPr>
          <p:cNvPr id="18" name="Image 2" descr="preencoded.png"/>
          <p:cNvPicPr>
            <a:picLocks noChangeAspect="1"/>
          </p:cNvPicPr>
          <p:nvPr/>
        </p:nvPicPr>
        <p:blipFill>
          <a:blip r:embed="rId5"/>
          <a:stretch>
            <a:fillRect/>
          </a:stretch>
        </p:blipFill>
        <p:spPr>
          <a:xfrm>
            <a:off x="8152317" y="3756160"/>
            <a:ext cx="337446" cy="337446"/>
          </a:xfrm>
          <a:prstGeom prst="rect">
            <a:avLst/>
          </a:prstGeom>
        </p:spPr>
      </p:pic>
      <p:sp>
        <p:nvSpPr>
          <p:cNvPr id="20" name="Rectangle 19"/>
          <p:cNvSpPr/>
          <p:nvPr/>
        </p:nvSpPr>
        <p:spPr>
          <a:xfrm>
            <a:off x="8321040" y="4137899"/>
            <a:ext cx="3112178" cy="1301510"/>
          </a:xfrm>
          <a:prstGeom prst="rect">
            <a:avLst/>
          </a:prstGeom>
        </p:spPr>
        <p:txBody>
          <a:bodyPr wrap="square">
            <a:spAutoFit/>
          </a:bodyPr>
          <a:lstStyle/>
          <a:p>
            <a:pPr>
              <a:lnSpc>
                <a:spcPct val="115000"/>
              </a:lnSpc>
            </a:pPr>
            <a:r>
              <a:rPr lang="en-US" sz="1150" dirty="0">
                <a:solidFill>
                  <a:srgbClr val="E3ECEF"/>
                </a:solidFill>
                <a:latin typeface="Calibri" pitchFamily="34" charset="0"/>
                <a:ea typeface="Calibri" pitchFamily="34" charset="-122"/>
                <a:cs typeface="Calibri" pitchFamily="34" charset="-120"/>
              </a:rPr>
              <a:t>The raw distance-to-JFK column had some wild outliers, up to 30,000 km, when the real range should be about 1 to 44 km. A scatter plot was unreadable, so we grouped distances into simple bands (under 5km, 5 to 20km, and so on) and compared the average fare in each.</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RIDE DEMAND</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When Do People Actually Ride?</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08</a:t>
            </a:r>
            <a:endParaRPr lang="en-US" sz="1000" dirty="0"/>
          </a:p>
        </p:txBody>
      </p:sp>
      <p:pic>
        <p:nvPicPr>
          <p:cNvPr id="5" name="Image 0" descr="/home/claude/nb_images/cell27_0.png"/>
          <p:cNvPicPr>
            <a:picLocks noChangeAspect="1"/>
          </p:cNvPicPr>
          <p:nvPr/>
        </p:nvPicPr>
        <p:blipFill>
          <a:blip r:embed="rId3"/>
          <a:stretch>
            <a:fillRect/>
          </a:stretch>
        </p:blipFill>
        <p:spPr>
          <a:xfrm>
            <a:off x="548640" y="1463040"/>
            <a:ext cx="7040880" cy="3852402"/>
          </a:xfrm>
          <a:prstGeom prst="rect">
            <a:avLst/>
          </a:prstGeom>
        </p:spPr>
      </p:pic>
      <p:sp>
        <p:nvSpPr>
          <p:cNvPr id="6" name="Shape 3"/>
          <p:cNvSpPr/>
          <p:nvPr/>
        </p:nvSpPr>
        <p:spPr>
          <a:xfrm>
            <a:off x="7772400" y="1463040"/>
            <a:ext cx="3566160" cy="4297680"/>
          </a:xfrm>
          <a:prstGeom prst="roundRect">
            <a:avLst>
              <a:gd name="adj" fmla="val 2564"/>
            </a:avLst>
          </a:prstGeom>
          <a:solidFill>
            <a:srgbClr val="F4F7F8"/>
          </a:solidFill>
          <a:ln w="12700">
            <a:solidFill>
              <a:srgbClr val="E3E9EB"/>
            </a:solidFill>
            <a:prstDash val="solid"/>
          </a:ln>
        </p:spPr>
      </p:sp>
      <p:sp>
        <p:nvSpPr>
          <p:cNvPr id="7" name="Shape 4"/>
          <p:cNvSpPr/>
          <p:nvPr/>
        </p:nvSpPr>
        <p:spPr>
          <a:xfrm>
            <a:off x="8046720" y="1737360"/>
            <a:ext cx="548640" cy="548640"/>
          </a:xfrm>
          <a:prstGeom prst="ellipse">
            <a:avLst/>
          </a:prstGeom>
          <a:solidFill>
            <a:srgbClr val="FFFFFF"/>
          </a:solidFill>
          <a:ln/>
        </p:spPr>
      </p:sp>
      <p:pic>
        <p:nvPicPr>
          <p:cNvPr id="8" name="Image 1" descr="preencoded.png"/>
          <p:cNvPicPr>
            <a:picLocks noChangeAspect="1"/>
          </p:cNvPicPr>
          <p:nvPr/>
        </p:nvPicPr>
        <p:blipFill>
          <a:blip r:embed="rId4"/>
          <a:stretch>
            <a:fillRect/>
          </a:stretch>
        </p:blipFill>
        <p:spPr>
          <a:xfrm>
            <a:off x="8189366" y="1880006"/>
            <a:ext cx="263347" cy="263347"/>
          </a:xfrm>
          <a:prstGeom prst="rect">
            <a:avLst/>
          </a:prstGeom>
        </p:spPr>
      </p:pic>
      <p:sp>
        <p:nvSpPr>
          <p:cNvPr id="9" name="Text 5"/>
          <p:cNvSpPr/>
          <p:nvPr/>
        </p:nvSpPr>
        <p:spPr>
          <a:xfrm>
            <a:off x="8046720" y="2423160"/>
            <a:ext cx="3017520" cy="365760"/>
          </a:xfrm>
          <a:prstGeom prst="rect">
            <a:avLst/>
          </a:prstGeom>
          <a:noFill/>
          <a:ln/>
        </p:spPr>
        <p:txBody>
          <a:bodyPr wrap="square" rtlCol="0" anchor="ctr"/>
          <a:lstStyle/>
          <a:p>
            <a:pPr marL="0" indent="0">
              <a:buNone/>
            </a:pPr>
            <a:r>
              <a:rPr lang="en-US" sz="1100" b="1" kern="0" spc="100" dirty="0">
                <a:solidFill>
                  <a:srgbClr val="1C7293"/>
                </a:solidFill>
                <a:latin typeface="Calibri" pitchFamily="34" charset="0"/>
                <a:ea typeface="Calibri" pitchFamily="34" charset="-122"/>
                <a:cs typeface="Calibri" pitchFamily="34" charset="-120"/>
              </a:rPr>
              <a:t>What it means</a:t>
            </a:r>
            <a:endParaRPr lang="en-US" sz="1100" dirty="0"/>
          </a:p>
        </p:txBody>
      </p:sp>
      <p:sp>
        <p:nvSpPr>
          <p:cNvPr id="10" name="Text 6"/>
          <p:cNvSpPr/>
          <p:nvPr/>
        </p:nvSpPr>
        <p:spPr>
          <a:xfrm>
            <a:off x="8046720" y="2834640"/>
            <a:ext cx="3017520" cy="2743200"/>
          </a:xfrm>
          <a:prstGeom prst="rect">
            <a:avLst/>
          </a:prstGeom>
          <a:noFill/>
          <a:ln/>
        </p:spPr>
        <p:txBody>
          <a:bodyPr wrap="square" rtlCol="0" anchor="ctr"/>
          <a:lstStyle/>
          <a:p>
            <a:pPr marL="0" indent="0">
              <a:lnSpc>
                <a:spcPct val="120000"/>
              </a:lnSpc>
              <a:buNone/>
            </a:pPr>
            <a:r>
              <a:rPr lang="en-US" sz="1250" dirty="0">
                <a:solidFill>
                  <a:srgbClr val="1E2530"/>
                </a:solidFill>
                <a:latin typeface="Calibri" pitchFamily="34" charset="0"/>
                <a:ea typeface="Calibri" pitchFamily="34" charset="-122"/>
                <a:cs typeface="Calibri" pitchFamily="34" charset="-120"/>
              </a:rPr>
              <a:t>Rides are quiet overnight, then climb steadily through the day and peak in the evening. We also checked demand across days of the week, and it stayed fairly even. So time of day matters a lot more than which day it is.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PRICE PATTERNS</a:t>
            </a:r>
            <a:endParaRPr lang="en-US" sz="1200" dirty="0"/>
          </a:p>
        </p:txBody>
      </p:sp>
      <p:sp>
        <p:nvSpPr>
          <p:cNvPr id="3" name="Text 1"/>
          <p:cNvSpPr/>
          <p:nvPr/>
        </p:nvSpPr>
        <p:spPr>
          <a:xfrm>
            <a:off x="548640" y="594360"/>
            <a:ext cx="10789920" cy="685800"/>
          </a:xfrm>
          <a:prstGeom prst="rect">
            <a:avLst/>
          </a:prstGeom>
          <a:noFill/>
          <a:ln/>
        </p:spPr>
        <p:txBody>
          <a:bodyPr wrap="square" rtlCol="0" anchor="ctr"/>
          <a:lstStyle/>
          <a:p>
            <a:pPr marL="0" indent="0">
              <a:buNone/>
            </a:pPr>
            <a:r>
              <a:rPr lang="en-US" sz="3000" b="1" dirty="0">
                <a:solidFill>
                  <a:srgbClr val="0B3D57"/>
                </a:solidFill>
                <a:latin typeface="Cambria" pitchFamily="34" charset="0"/>
                <a:ea typeface="Cambria" pitchFamily="34" charset="-122"/>
                <a:cs typeface="Cambria" pitchFamily="34" charset="-120"/>
              </a:rPr>
              <a:t>When Are Fares Highest?</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09</a:t>
            </a:r>
            <a:endParaRPr lang="en-US" sz="1000" dirty="0"/>
          </a:p>
        </p:txBody>
      </p:sp>
      <p:pic>
        <p:nvPicPr>
          <p:cNvPr id="5" name="Image 0" descr="/home/claude/nb_images/cell29_0.png"/>
          <p:cNvPicPr>
            <a:picLocks noChangeAspect="1"/>
          </p:cNvPicPr>
          <p:nvPr/>
        </p:nvPicPr>
        <p:blipFill>
          <a:blip r:embed="rId3"/>
          <a:stretch>
            <a:fillRect/>
          </a:stretch>
        </p:blipFill>
        <p:spPr>
          <a:xfrm>
            <a:off x="548640" y="1463040"/>
            <a:ext cx="5394960" cy="3011438"/>
          </a:xfrm>
          <a:prstGeom prst="rect">
            <a:avLst/>
          </a:prstGeom>
        </p:spPr>
      </p:pic>
      <p:pic>
        <p:nvPicPr>
          <p:cNvPr id="6" name="Image 1" descr="/home/claude/nb_images/cell34_0.png"/>
          <p:cNvPicPr>
            <a:picLocks noChangeAspect="1"/>
          </p:cNvPicPr>
          <p:nvPr/>
        </p:nvPicPr>
        <p:blipFill>
          <a:blip r:embed="rId4"/>
          <a:stretch>
            <a:fillRect/>
          </a:stretch>
        </p:blipFill>
        <p:spPr>
          <a:xfrm>
            <a:off x="6172200" y="1463040"/>
            <a:ext cx="5394960" cy="3166355"/>
          </a:xfrm>
          <a:prstGeom prst="rect">
            <a:avLst/>
          </a:prstGeom>
        </p:spPr>
      </p:pic>
      <p:sp>
        <p:nvSpPr>
          <p:cNvPr id="7" name="Shape 3"/>
          <p:cNvSpPr/>
          <p:nvPr/>
        </p:nvSpPr>
        <p:spPr>
          <a:xfrm>
            <a:off x="548640" y="4892040"/>
            <a:ext cx="5394960" cy="1508760"/>
          </a:xfrm>
          <a:prstGeom prst="roundRect">
            <a:avLst>
              <a:gd name="adj" fmla="val 4848"/>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8" name="Text 4"/>
          <p:cNvSpPr/>
          <p:nvPr/>
        </p:nvSpPr>
        <p:spPr>
          <a:xfrm>
            <a:off x="777240" y="5038344"/>
            <a:ext cx="493776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FARE BY HOUR</a:t>
            </a:r>
            <a:endParaRPr lang="en-US" sz="1100" dirty="0"/>
          </a:p>
        </p:txBody>
      </p:sp>
      <p:sp>
        <p:nvSpPr>
          <p:cNvPr id="9" name="Text 5"/>
          <p:cNvSpPr/>
          <p:nvPr/>
        </p:nvSpPr>
        <p:spPr>
          <a:xfrm>
            <a:off x="777240" y="5349240"/>
            <a:ext cx="4937760" cy="868680"/>
          </a:xfrm>
          <a:prstGeom prst="rect">
            <a:avLst/>
          </a:prstGeom>
          <a:noFill/>
          <a:ln/>
        </p:spPr>
        <p:txBody>
          <a:bodyPr wrap="square" rtlCol="0" anchor="t"/>
          <a:lstStyle/>
          <a:p>
            <a:pPr marL="0" indent="0">
              <a:lnSpc>
                <a:spcPct val="115000"/>
              </a:lnSpc>
              <a:buNone/>
            </a:pPr>
            <a:r>
              <a:rPr lang="en-US" sz="1350" dirty="0">
                <a:solidFill>
                  <a:srgbClr val="1E2530"/>
                </a:solidFill>
                <a:latin typeface="Calibri" pitchFamily="34" charset="0"/>
                <a:ea typeface="Calibri" pitchFamily="34" charset="-122"/>
                <a:cs typeface="Calibri" pitchFamily="34" charset="-120"/>
              </a:rPr>
              <a:t>Fare stays fairly steady through the day, but jumps early in the morning, around 4 to 6 AM. These are likely longer trips like airport runs, taken when the roads are empty.</a:t>
            </a:r>
            <a:endParaRPr lang="en-US" sz="1350" dirty="0"/>
          </a:p>
        </p:txBody>
      </p:sp>
      <p:sp>
        <p:nvSpPr>
          <p:cNvPr id="10" name="Shape 6"/>
          <p:cNvSpPr/>
          <p:nvPr/>
        </p:nvSpPr>
        <p:spPr>
          <a:xfrm>
            <a:off x="6172200" y="4892040"/>
            <a:ext cx="5394960" cy="1508760"/>
          </a:xfrm>
          <a:prstGeom prst="roundRect">
            <a:avLst>
              <a:gd name="adj" fmla="val 4848"/>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11" name="Text 7"/>
          <p:cNvSpPr/>
          <p:nvPr/>
        </p:nvSpPr>
        <p:spPr>
          <a:xfrm>
            <a:off x="6400800" y="5038344"/>
            <a:ext cx="4937760" cy="274320"/>
          </a:xfrm>
          <a:prstGeom prst="rect">
            <a:avLst/>
          </a:prstGeom>
          <a:noFill/>
          <a:ln/>
        </p:spPr>
        <p:txBody>
          <a:bodyPr wrap="square" rtlCol="0" anchor="ctr"/>
          <a:lstStyle/>
          <a:p>
            <a:pPr marL="0" indent="0">
              <a:buNone/>
            </a:pPr>
            <a:r>
              <a:rPr lang="en-US" sz="1100" b="1" kern="0" spc="150" dirty="0">
                <a:solidFill>
                  <a:srgbClr val="1C7293"/>
                </a:solidFill>
                <a:latin typeface="Calibri" pitchFamily="34" charset="0"/>
                <a:ea typeface="Calibri" pitchFamily="34" charset="-122"/>
                <a:cs typeface="Calibri" pitchFamily="34" charset="-120"/>
              </a:rPr>
              <a:t>HOUR AND DAY COMBINED</a:t>
            </a:r>
            <a:endParaRPr lang="en-US" sz="1100" dirty="0"/>
          </a:p>
        </p:txBody>
      </p:sp>
      <p:sp>
        <p:nvSpPr>
          <p:cNvPr id="12" name="Text 8"/>
          <p:cNvSpPr/>
          <p:nvPr/>
        </p:nvSpPr>
        <p:spPr>
          <a:xfrm>
            <a:off x="6400800" y="5349240"/>
            <a:ext cx="4937760" cy="868680"/>
          </a:xfrm>
          <a:prstGeom prst="rect">
            <a:avLst/>
          </a:prstGeom>
          <a:noFill/>
          <a:ln/>
        </p:spPr>
        <p:txBody>
          <a:bodyPr wrap="square" rtlCol="0" anchor="t"/>
          <a:lstStyle/>
          <a:p>
            <a:pPr marL="0" indent="0">
              <a:lnSpc>
                <a:spcPct val="115000"/>
              </a:lnSpc>
              <a:buNone/>
            </a:pPr>
            <a:r>
              <a:rPr lang="en-US" sz="1350" dirty="0">
                <a:solidFill>
                  <a:srgbClr val="1E2530"/>
                </a:solidFill>
                <a:latin typeface="Calibri" pitchFamily="34" charset="0"/>
                <a:ea typeface="Calibri" pitchFamily="34" charset="-122"/>
                <a:cs typeface="Calibri" pitchFamily="34" charset="-120"/>
              </a:rPr>
              <a:t>Putting hour and day of week together shows demand piling up in the evenings on almost every day, especially around commute time and weekend nights.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57"/>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KEY DISCOVERY</a:t>
            </a:r>
            <a:endParaRPr lang="en-US" sz="1200" dirty="0"/>
          </a:p>
        </p:txBody>
      </p:sp>
      <p:sp>
        <p:nvSpPr>
          <p:cNvPr id="3" name="Text 1"/>
          <p:cNvSpPr/>
          <p:nvPr/>
        </p:nvSpPr>
        <p:spPr>
          <a:xfrm>
            <a:off x="548640" y="658368"/>
            <a:ext cx="107899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Bug Hiding in the Coordinates</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10</a:t>
            </a:r>
            <a:endParaRPr lang="en-US" sz="1000" dirty="0"/>
          </a:p>
        </p:txBody>
      </p:sp>
      <p:pic>
        <p:nvPicPr>
          <p:cNvPr id="5" name="Image 0" descr="/home/claude/nb_images/cell38_0.png"/>
          <p:cNvPicPr>
            <a:picLocks noChangeAspect="1"/>
          </p:cNvPicPr>
          <p:nvPr/>
        </p:nvPicPr>
        <p:blipFill>
          <a:blip r:embed="rId3"/>
          <a:stretch>
            <a:fillRect/>
          </a:stretch>
        </p:blipFill>
        <p:spPr>
          <a:xfrm>
            <a:off x="822960" y="1600200"/>
            <a:ext cx="4202066" cy="4160520"/>
          </a:xfrm>
          <a:prstGeom prst="rect">
            <a:avLst/>
          </a:prstGeom>
        </p:spPr>
      </p:pic>
      <p:sp>
        <p:nvSpPr>
          <p:cNvPr id="6" name="Shape 3"/>
          <p:cNvSpPr/>
          <p:nvPr/>
        </p:nvSpPr>
        <p:spPr>
          <a:xfrm>
            <a:off x="5394960" y="1600200"/>
            <a:ext cx="6172200" cy="1874520"/>
          </a:xfrm>
          <a:prstGeom prst="roundRect">
            <a:avLst>
              <a:gd name="adj" fmla="val 4390"/>
            </a:avLst>
          </a:prstGeom>
          <a:solidFill>
            <a:srgbClr val="1C7293"/>
          </a:solidFill>
          <a:ln/>
        </p:spPr>
      </p:sp>
      <p:sp>
        <p:nvSpPr>
          <p:cNvPr id="7" name="Shape 4"/>
          <p:cNvSpPr/>
          <p:nvPr/>
        </p:nvSpPr>
        <p:spPr>
          <a:xfrm>
            <a:off x="5623560" y="1783080"/>
            <a:ext cx="502920" cy="502920"/>
          </a:xfrm>
          <a:prstGeom prst="ellipse">
            <a:avLst/>
          </a:prstGeom>
          <a:solidFill>
            <a:srgbClr val="0B3D57"/>
          </a:solidFill>
          <a:ln/>
        </p:spPr>
      </p:sp>
      <p:pic>
        <p:nvPicPr>
          <p:cNvPr id="8" name="Image 1" descr="preencoded.png"/>
          <p:cNvPicPr>
            <a:picLocks noChangeAspect="1"/>
          </p:cNvPicPr>
          <p:nvPr/>
        </p:nvPicPr>
        <p:blipFill>
          <a:blip r:embed="rId4"/>
          <a:stretch>
            <a:fillRect/>
          </a:stretch>
        </p:blipFill>
        <p:spPr>
          <a:xfrm>
            <a:off x="5754319" y="1913839"/>
            <a:ext cx="241402" cy="241402"/>
          </a:xfrm>
          <a:prstGeom prst="rect">
            <a:avLst/>
          </a:prstGeom>
        </p:spPr>
      </p:pic>
      <p:sp>
        <p:nvSpPr>
          <p:cNvPr id="9" name="Text 5"/>
          <p:cNvSpPr/>
          <p:nvPr/>
        </p:nvSpPr>
        <p:spPr>
          <a:xfrm>
            <a:off x="6263640" y="1691640"/>
            <a:ext cx="5120640" cy="36576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The first plot looked broken</a:t>
            </a:r>
            <a:endParaRPr lang="en-US" sz="1400" dirty="0"/>
          </a:p>
        </p:txBody>
      </p:sp>
      <p:sp>
        <p:nvSpPr>
          <p:cNvPr id="10" name="Text 6"/>
          <p:cNvSpPr/>
          <p:nvPr/>
        </p:nvSpPr>
        <p:spPr>
          <a:xfrm>
            <a:off x="6263640" y="2103120"/>
            <a:ext cx="5120640" cy="1280160"/>
          </a:xfrm>
          <a:prstGeom prst="rect">
            <a:avLst/>
          </a:prstGeom>
          <a:noFill/>
          <a:ln/>
        </p:spPr>
        <p:txBody>
          <a:bodyPr wrap="square" rtlCol="0" anchor="ctr"/>
          <a:lstStyle/>
          <a:p>
            <a:pPr marL="0" indent="0">
              <a:lnSpc>
                <a:spcPct val="115000"/>
              </a:lnSpc>
              <a:buNone/>
            </a:pPr>
            <a:r>
              <a:rPr lang="en-US" sz="1250" dirty="0">
                <a:solidFill>
                  <a:srgbClr val="E3ECEF"/>
                </a:solidFill>
                <a:latin typeface="Calibri" pitchFamily="34" charset="0"/>
                <a:ea typeface="Calibri" pitchFamily="34" charset="-122"/>
                <a:cs typeface="Calibri" pitchFamily="34" charset="-120"/>
              </a:rPr>
              <a:t>Filtering the pickup coordinates to normal NYC map bounds returned an empty plot. Something was clearly off.</a:t>
            </a:r>
            <a:endParaRPr lang="en-US" sz="1250" dirty="0"/>
          </a:p>
        </p:txBody>
      </p:sp>
      <p:sp>
        <p:nvSpPr>
          <p:cNvPr id="11" name="Shape 7"/>
          <p:cNvSpPr/>
          <p:nvPr/>
        </p:nvSpPr>
        <p:spPr>
          <a:xfrm>
            <a:off x="5394960" y="3657600"/>
            <a:ext cx="6172200" cy="1691640"/>
          </a:xfrm>
          <a:prstGeom prst="roundRect">
            <a:avLst>
              <a:gd name="adj" fmla="val 3913"/>
            </a:avLst>
          </a:prstGeom>
          <a:solidFill>
            <a:srgbClr val="F4F7F8"/>
          </a:solidFill>
          <a:ln/>
        </p:spPr>
      </p:sp>
      <p:sp>
        <p:nvSpPr>
          <p:cNvPr id="12" name="Shape 8"/>
          <p:cNvSpPr/>
          <p:nvPr/>
        </p:nvSpPr>
        <p:spPr>
          <a:xfrm>
            <a:off x="5623560" y="3840480"/>
            <a:ext cx="502920" cy="502920"/>
          </a:xfrm>
          <a:prstGeom prst="ellipse">
            <a:avLst/>
          </a:prstGeom>
          <a:solidFill>
            <a:srgbClr val="F5A623"/>
          </a:solidFill>
          <a:ln/>
        </p:spPr>
      </p:sp>
      <p:pic>
        <p:nvPicPr>
          <p:cNvPr id="13" name="Image 2" descr="preencoded.png"/>
          <p:cNvPicPr>
            <a:picLocks noChangeAspect="1"/>
          </p:cNvPicPr>
          <p:nvPr/>
        </p:nvPicPr>
        <p:blipFill>
          <a:blip r:embed="rId5"/>
          <a:stretch>
            <a:fillRect/>
          </a:stretch>
        </p:blipFill>
        <p:spPr>
          <a:xfrm>
            <a:off x="5754319" y="3971239"/>
            <a:ext cx="241402" cy="241402"/>
          </a:xfrm>
          <a:prstGeom prst="rect">
            <a:avLst/>
          </a:prstGeom>
        </p:spPr>
      </p:pic>
      <p:sp>
        <p:nvSpPr>
          <p:cNvPr id="14" name="Text 9"/>
          <p:cNvSpPr/>
          <p:nvPr/>
        </p:nvSpPr>
        <p:spPr>
          <a:xfrm>
            <a:off x="6257239" y="3886200"/>
            <a:ext cx="5120640" cy="411480"/>
          </a:xfrm>
          <a:prstGeom prst="rect">
            <a:avLst/>
          </a:prstGeom>
          <a:noFill/>
          <a:ln/>
        </p:spPr>
        <p:txBody>
          <a:bodyPr wrap="square" rtlCol="0" anchor="ctr"/>
          <a:lstStyle/>
          <a:p>
            <a:pPr marL="0" indent="0">
              <a:buNone/>
            </a:pPr>
            <a:r>
              <a:rPr lang="en-US" sz="1400" b="1" dirty="0">
                <a:solidFill>
                  <a:srgbClr val="0B3D57"/>
                </a:solidFill>
                <a:latin typeface="Cambria" pitchFamily="34" charset="0"/>
                <a:ea typeface="Cambria" pitchFamily="34" charset="-122"/>
                <a:cs typeface="Cambria" pitchFamily="34" charset="-120"/>
              </a:rPr>
              <a:t>The coordinates were stored in radians</a:t>
            </a:r>
            <a:endParaRPr lang="en-US" sz="1400" dirty="0"/>
          </a:p>
        </p:txBody>
      </p:sp>
      <p:sp>
        <p:nvSpPr>
          <p:cNvPr id="15" name="Text 10"/>
          <p:cNvSpPr/>
          <p:nvPr/>
        </p:nvSpPr>
        <p:spPr>
          <a:xfrm>
            <a:off x="6263640" y="3995602"/>
            <a:ext cx="5120640" cy="1463040"/>
          </a:xfrm>
          <a:prstGeom prst="rect">
            <a:avLst/>
          </a:prstGeom>
          <a:noFill/>
          <a:ln/>
        </p:spPr>
        <p:txBody>
          <a:bodyPr wrap="square" rtlCol="0" anchor="ctr"/>
          <a:lstStyle/>
          <a:p>
            <a:pPr marL="0" indent="0">
              <a:lnSpc>
                <a:spcPct val="115000"/>
              </a:lnSpc>
              <a:buNone/>
            </a:pPr>
            <a:r>
              <a:rPr lang="en-US" sz="1250" dirty="0">
                <a:solidFill>
                  <a:srgbClr val="1E2530"/>
                </a:solidFill>
                <a:latin typeface="Calibri" pitchFamily="34" charset="0"/>
                <a:ea typeface="Calibri" pitchFamily="34" charset="-122"/>
                <a:cs typeface="Calibri" pitchFamily="34" charset="-120"/>
              </a:rPr>
              <a:t>A median longitude of -1.29 turns into -73.9 degrees once converted, a real NYC location. After applying that fix to both columns, the pickup map suddenly made sense.</a:t>
            </a:r>
            <a:endParaRPr lang="en-US" sz="1250" dirty="0"/>
          </a:p>
        </p:txBody>
      </p:sp>
      <p:sp>
        <p:nvSpPr>
          <p:cNvPr id="16" name="Shape 11"/>
          <p:cNvSpPr/>
          <p:nvPr/>
        </p:nvSpPr>
        <p:spPr>
          <a:xfrm>
            <a:off x="5394960" y="5532119"/>
            <a:ext cx="6172200" cy="1113609"/>
          </a:xfrm>
          <a:prstGeom prst="roundRect">
            <a:avLst>
              <a:gd name="adj" fmla="val 10667"/>
            </a:avLst>
          </a:prstGeom>
          <a:solidFill>
            <a:srgbClr val="F4F7F8"/>
          </a:solidFill>
          <a:ln w="12700">
            <a:solidFill>
              <a:srgbClr val="E3E9EB"/>
            </a:solidFill>
            <a:prstDash val="solid"/>
          </a:ln>
          <a:effectLst>
            <a:outerShdw blurRad="101600" dist="25400" dir="5400000" algn="bl" rotWithShape="0">
              <a:srgbClr val="1E2530">
                <a:alpha val="8000"/>
              </a:srgbClr>
            </a:outerShdw>
          </a:effectLst>
        </p:spPr>
      </p:sp>
      <p:sp>
        <p:nvSpPr>
          <p:cNvPr id="17" name="Text 12"/>
          <p:cNvSpPr/>
          <p:nvPr/>
        </p:nvSpPr>
        <p:spPr>
          <a:xfrm>
            <a:off x="5623560" y="5641521"/>
            <a:ext cx="5715000" cy="274320"/>
          </a:xfrm>
          <a:prstGeom prst="rect">
            <a:avLst/>
          </a:prstGeom>
          <a:noFill/>
          <a:ln/>
        </p:spPr>
        <p:txBody>
          <a:bodyPr wrap="square" rtlCol="0" anchor="ctr"/>
          <a:lstStyle/>
          <a:p>
            <a:pPr marL="0" indent="0">
              <a:buNone/>
            </a:pPr>
            <a:r>
              <a:rPr lang="en-US" sz="1100" b="1" kern="0" spc="150" dirty="0">
                <a:solidFill>
                  <a:srgbClr val="F5A623"/>
                </a:solidFill>
                <a:latin typeface="Calibri" pitchFamily="34" charset="0"/>
                <a:ea typeface="Calibri" pitchFamily="34" charset="-122"/>
                <a:cs typeface="Calibri" pitchFamily="34" charset="-120"/>
              </a:rPr>
              <a:t>WHY IT MATTERS</a:t>
            </a:r>
            <a:endParaRPr lang="en-US" sz="1100" dirty="0"/>
          </a:p>
        </p:txBody>
      </p:sp>
      <p:sp>
        <p:nvSpPr>
          <p:cNvPr id="18" name="Text 13"/>
          <p:cNvSpPr/>
          <p:nvPr/>
        </p:nvSpPr>
        <p:spPr>
          <a:xfrm>
            <a:off x="5669280" y="5852160"/>
            <a:ext cx="5715000" cy="45720"/>
          </a:xfrm>
          <a:prstGeom prst="rect">
            <a:avLst/>
          </a:prstGeom>
          <a:noFill/>
          <a:ln/>
        </p:spPr>
        <p:txBody>
          <a:bodyPr wrap="square" rtlCol="0" anchor="t"/>
          <a:lstStyle/>
          <a:p>
            <a:pPr marL="0" indent="0">
              <a:lnSpc>
                <a:spcPct val="115000"/>
              </a:lnSpc>
              <a:buNone/>
            </a:pPr>
            <a:r>
              <a:rPr lang="en-US" sz="1350" dirty="0">
                <a:solidFill>
                  <a:srgbClr val="1E2530"/>
                </a:solidFill>
                <a:latin typeface="Calibri" pitchFamily="34" charset="0"/>
                <a:ea typeface="Calibri" pitchFamily="34" charset="-122"/>
                <a:cs typeface="Calibri" pitchFamily="34" charset="-120"/>
              </a:rPr>
              <a:t>A model trained on the raw radian columns would fail quietly, with no obvious error. We only caught this because we looked at the data before building anything on top of it.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57"/>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CLOSING SUMMARY</a:t>
            </a:r>
            <a:endParaRPr lang="en-US" sz="1200" dirty="0"/>
          </a:p>
        </p:txBody>
      </p:sp>
      <p:sp>
        <p:nvSpPr>
          <p:cNvPr id="3" name="Text 1"/>
          <p:cNvSpPr/>
          <p:nvPr/>
        </p:nvSpPr>
        <p:spPr>
          <a:xfrm>
            <a:off x="548640" y="749808"/>
            <a:ext cx="107899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This Means for Task 2</a:t>
            </a:r>
            <a:endParaRPr lang="en-US" sz="3000" dirty="0"/>
          </a:p>
        </p:txBody>
      </p:sp>
      <p:sp>
        <p:nvSpPr>
          <p:cNvPr id="4" name="Text 2"/>
          <p:cNvSpPr/>
          <p:nvPr/>
        </p:nvSpPr>
        <p:spPr>
          <a:xfrm>
            <a:off x="11521440" y="6446520"/>
            <a:ext cx="548640" cy="320040"/>
          </a:xfrm>
          <a:prstGeom prst="rect">
            <a:avLst/>
          </a:prstGeom>
          <a:noFill/>
          <a:ln/>
        </p:spPr>
        <p:txBody>
          <a:bodyPr wrap="square" rtlCol="0" anchor="ctr"/>
          <a:lstStyle/>
          <a:p>
            <a:pPr marL="0" indent="0" algn="r">
              <a:buNone/>
            </a:pPr>
            <a:r>
              <a:rPr lang="en-US" sz="1000" dirty="0">
                <a:solidFill>
                  <a:srgbClr val="5B6B78"/>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2033016"/>
            <a:ext cx="566928" cy="56692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696041" y="2180417"/>
            <a:ext cx="272125" cy="272125"/>
          </a:xfrm>
          <a:prstGeom prst="rect">
            <a:avLst/>
          </a:prstGeom>
        </p:spPr>
      </p:pic>
      <p:sp>
        <p:nvSpPr>
          <p:cNvPr id="7" name="Text 4"/>
          <p:cNvSpPr/>
          <p:nvPr/>
        </p:nvSpPr>
        <p:spPr>
          <a:xfrm>
            <a:off x="1280160" y="1600200"/>
            <a:ext cx="4709160" cy="644652"/>
          </a:xfrm>
          <a:prstGeom prst="rect">
            <a:avLst/>
          </a:prstGeom>
          <a:noFill/>
          <a:ln/>
        </p:spPr>
        <p:txBody>
          <a:bodyPr wrap="square" rtlCol="0" anchor="b"/>
          <a:lstStyle/>
          <a:p>
            <a:pPr marL="0" indent="0">
              <a:buNone/>
            </a:pPr>
            <a:r>
              <a:rPr lang="en-US" sz="1450" b="1" dirty="0">
                <a:solidFill>
                  <a:srgbClr val="FFFFFF"/>
                </a:solidFill>
                <a:latin typeface="Cambria" pitchFamily="34" charset="0"/>
                <a:ea typeface="Cambria" pitchFamily="34" charset="-122"/>
                <a:cs typeface="Cambria" pitchFamily="34" charset="-120"/>
              </a:rPr>
              <a:t>Distance is the main driver</a:t>
            </a:r>
            <a:endParaRPr lang="en-US" sz="1450" dirty="0"/>
          </a:p>
        </p:txBody>
      </p:sp>
      <p:sp>
        <p:nvSpPr>
          <p:cNvPr id="8" name="Text 5"/>
          <p:cNvSpPr/>
          <p:nvPr/>
        </p:nvSpPr>
        <p:spPr>
          <a:xfrm>
            <a:off x="1280160" y="2201875"/>
            <a:ext cx="4709160" cy="830885"/>
          </a:xfrm>
          <a:prstGeom prst="rect">
            <a:avLst/>
          </a:prstGeom>
          <a:noFill/>
          <a:ln/>
        </p:spPr>
        <p:txBody>
          <a:bodyPr wrap="square" rtlCol="0" anchor="t"/>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It's the strongest, most consistent predictor of fare. Build the model around it.</a:t>
            </a:r>
            <a:endParaRPr lang="en-US" sz="1150" dirty="0"/>
          </a:p>
        </p:txBody>
      </p:sp>
      <p:sp>
        <p:nvSpPr>
          <p:cNvPr id="9" name="Shape 6"/>
          <p:cNvSpPr/>
          <p:nvPr/>
        </p:nvSpPr>
        <p:spPr>
          <a:xfrm>
            <a:off x="6400800" y="2033016"/>
            <a:ext cx="566928" cy="566928"/>
          </a:xfrm>
          <a:prstGeom prst="ellipse">
            <a:avLst/>
          </a:prstGeom>
          <a:solidFill>
            <a:srgbClr val="1C7293"/>
          </a:solidFill>
          <a:ln/>
        </p:spPr>
      </p:sp>
      <p:pic>
        <p:nvPicPr>
          <p:cNvPr id="10" name="Image 1" descr="preencoded.png"/>
          <p:cNvPicPr>
            <a:picLocks noChangeAspect="1"/>
          </p:cNvPicPr>
          <p:nvPr/>
        </p:nvPicPr>
        <p:blipFill>
          <a:blip r:embed="rId4"/>
          <a:stretch>
            <a:fillRect/>
          </a:stretch>
        </p:blipFill>
        <p:spPr>
          <a:xfrm>
            <a:off x="6548201" y="2180417"/>
            <a:ext cx="272125" cy="272125"/>
          </a:xfrm>
          <a:prstGeom prst="rect">
            <a:avLst/>
          </a:prstGeom>
        </p:spPr>
      </p:pic>
      <p:sp>
        <p:nvSpPr>
          <p:cNvPr id="11" name="Text 7"/>
          <p:cNvSpPr/>
          <p:nvPr/>
        </p:nvSpPr>
        <p:spPr>
          <a:xfrm>
            <a:off x="7132320" y="1600200"/>
            <a:ext cx="4709160" cy="644652"/>
          </a:xfrm>
          <a:prstGeom prst="rect">
            <a:avLst/>
          </a:prstGeom>
          <a:noFill/>
          <a:ln/>
        </p:spPr>
        <p:txBody>
          <a:bodyPr wrap="square" rtlCol="0" anchor="b"/>
          <a:lstStyle/>
          <a:p>
            <a:pPr marL="0" indent="0">
              <a:buNone/>
            </a:pPr>
            <a:r>
              <a:rPr lang="en-US" sz="1450" b="1" dirty="0">
                <a:solidFill>
                  <a:srgbClr val="FFFFFF"/>
                </a:solidFill>
                <a:latin typeface="Cambria" pitchFamily="34" charset="0"/>
                <a:ea typeface="Cambria" pitchFamily="34" charset="-122"/>
                <a:cs typeface="Cambria" pitchFamily="34" charset="-120"/>
              </a:rPr>
              <a:t>Clean up the outliers</a:t>
            </a:r>
            <a:endParaRPr lang="en-US" sz="1450" dirty="0"/>
          </a:p>
        </p:txBody>
      </p:sp>
      <p:sp>
        <p:nvSpPr>
          <p:cNvPr id="12" name="Text 8"/>
          <p:cNvSpPr/>
          <p:nvPr/>
        </p:nvSpPr>
        <p:spPr>
          <a:xfrm>
            <a:off x="7132320" y="2201875"/>
            <a:ext cx="4709160" cy="830885"/>
          </a:xfrm>
          <a:prstGeom prst="rect">
            <a:avLst/>
          </a:prstGeom>
          <a:noFill/>
          <a:ln/>
        </p:spPr>
        <p:txBody>
          <a:bodyPr wrap="square" rtlCol="0" anchor="t"/>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Distance and the airport-distance columns all contain values that just aren't physically possible.</a:t>
            </a:r>
            <a:endParaRPr lang="en-US" sz="1150" dirty="0"/>
          </a:p>
        </p:txBody>
      </p:sp>
      <p:sp>
        <p:nvSpPr>
          <p:cNvPr id="13" name="Shape 9"/>
          <p:cNvSpPr/>
          <p:nvPr/>
        </p:nvSpPr>
        <p:spPr>
          <a:xfrm>
            <a:off x="548640" y="3785616"/>
            <a:ext cx="566928" cy="566928"/>
          </a:xfrm>
          <a:prstGeom prst="ellipse">
            <a:avLst/>
          </a:prstGeom>
          <a:solidFill>
            <a:srgbClr val="1C7293"/>
          </a:solidFill>
          <a:ln/>
        </p:spPr>
      </p:sp>
      <p:pic>
        <p:nvPicPr>
          <p:cNvPr id="14" name="Image 2" descr="preencoded.png"/>
          <p:cNvPicPr>
            <a:picLocks noChangeAspect="1"/>
          </p:cNvPicPr>
          <p:nvPr/>
        </p:nvPicPr>
        <p:blipFill>
          <a:blip r:embed="rId5"/>
          <a:stretch>
            <a:fillRect/>
          </a:stretch>
        </p:blipFill>
        <p:spPr>
          <a:xfrm>
            <a:off x="696041" y="3933017"/>
            <a:ext cx="272125" cy="272125"/>
          </a:xfrm>
          <a:prstGeom prst="rect">
            <a:avLst/>
          </a:prstGeom>
        </p:spPr>
      </p:pic>
      <p:sp>
        <p:nvSpPr>
          <p:cNvPr id="15" name="Text 10"/>
          <p:cNvSpPr/>
          <p:nvPr/>
        </p:nvSpPr>
        <p:spPr>
          <a:xfrm>
            <a:off x="1280160" y="3352800"/>
            <a:ext cx="4709160" cy="644652"/>
          </a:xfrm>
          <a:prstGeom prst="rect">
            <a:avLst/>
          </a:prstGeom>
          <a:noFill/>
          <a:ln/>
        </p:spPr>
        <p:txBody>
          <a:bodyPr wrap="square" rtlCol="0" anchor="b"/>
          <a:lstStyle/>
          <a:p>
            <a:pPr marL="0" indent="0">
              <a:buNone/>
            </a:pPr>
            <a:r>
              <a:rPr lang="en-US" sz="1450" b="1" dirty="0">
                <a:solidFill>
                  <a:srgbClr val="FFFFFF"/>
                </a:solidFill>
                <a:latin typeface="Cambria" pitchFamily="34" charset="0"/>
                <a:ea typeface="Cambria" pitchFamily="34" charset="-122"/>
                <a:cs typeface="Cambria" pitchFamily="34" charset="-120"/>
              </a:rPr>
              <a:t>Fix the coordinate bug</a:t>
            </a:r>
            <a:endParaRPr lang="en-US" sz="1450" dirty="0"/>
          </a:p>
        </p:txBody>
      </p:sp>
      <p:sp>
        <p:nvSpPr>
          <p:cNvPr id="16" name="Text 11"/>
          <p:cNvSpPr/>
          <p:nvPr/>
        </p:nvSpPr>
        <p:spPr>
          <a:xfrm>
            <a:off x="1280160" y="3954475"/>
            <a:ext cx="4709160" cy="830885"/>
          </a:xfrm>
          <a:prstGeom prst="rect">
            <a:avLst/>
          </a:prstGeom>
          <a:noFill/>
          <a:ln/>
        </p:spPr>
        <p:txBody>
          <a:bodyPr wrap="square" rtlCol="0" anchor="t"/>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Pickup and dropoff coordinates are in radians. Convert them before doing anything location-based.</a:t>
            </a:r>
            <a:endParaRPr lang="en-US" sz="1150" dirty="0"/>
          </a:p>
        </p:txBody>
      </p:sp>
      <p:sp>
        <p:nvSpPr>
          <p:cNvPr id="17" name="Shape 12"/>
          <p:cNvSpPr/>
          <p:nvPr/>
        </p:nvSpPr>
        <p:spPr>
          <a:xfrm>
            <a:off x="6400800" y="3785616"/>
            <a:ext cx="566928" cy="566928"/>
          </a:xfrm>
          <a:prstGeom prst="ellipse">
            <a:avLst/>
          </a:prstGeom>
          <a:solidFill>
            <a:srgbClr val="1C7293"/>
          </a:solidFill>
          <a:ln/>
        </p:spPr>
      </p:sp>
      <p:pic>
        <p:nvPicPr>
          <p:cNvPr id="18" name="Image 3" descr="preencoded.png"/>
          <p:cNvPicPr>
            <a:picLocks noChangeAspect="1"/>
          </p:cNvPicPr>
          <p:nvPr/>
        </p:nvPicPr>
        <p:blipFill>
          <a:blip r:embed="rId6"/>
          <a:stretch>
            <a:fillRect/>
          </a:stretch>
        </p:blipFill>
        <p:spPr>
          <a:xfrm>
            <a:off x="6548201" y="3933017"/>
            <a:ext cx="272125" cy="272125"/>
          </a:xfrm>
          <a:prstGeom prst="rect">
            <a:avLst/>
          </a:prstGeom>
        </p:spPr>
      </p:pic>
      <p:sp>
        <p:nvSpPr>
          <p:cNvPr id="19" name="Text 13"/>
          <p:cNvSpPr/>
          <p:nvPr/>
        </p:nvSpPr>
        <p:spPr>
          <a:xfrm>
            <a:off x="7132320" y="3352800"/>
            <a:ext cx="4709160" cy="644652"/>
          </a:xfrm>
          <a:prstGeom prst="rect">
            <a:avLst/>
          </a:prstGeom>
          <a:noFill/>
          <a:ln/>
        </p:spPr>
        <p:txBody>
          <a:bodyPr wrap="square" rtlCol="0" anchor="b"/>
          <a:lstStyle/>
          <a:p>
            <a:pPr marL="0" indent="0">
              <a:buNone/>
            </a:pPr>
            <a:r>
              <a:rPr lang="en-US" sz="1450" b="1" dirty="0">
                <a:solidFill>
                  <a:srgbClr val="FFFFFF"/>
                </a:solidFill>
                <a:latin typeface="Cambria" pitchFamily="34" charset="0"/>
                <a:ea typeface="Cambria" pitchFamily="34" charset="-122"/>
                <a:cs typeface="Cambria" pitchFamily="34" charset="-120"/>
              </a:rPr>
              <a:t>Drop the weak signals</a:t>
            </a:r>
            <a:endParaRPr lang="en-US" sz="1450" dirty="0"/>
          </a:p>
        </p:txBody>
      </p:sp>
      <p:sp>
        <p:nvSpPr>
          <p:cNvPr id="20" name="Text 14"/>
          <p:cNvSpPr/>
          <p:nvPr/>
        </p:nvSpPr>
        <p:spPr>
          <a:xfrm>
            <a:off x="7132320" y="3954475"/>
            <a:ext cx="4709160" cy="830885"/>
          </a:xfrm>
          <a:prstGeom prst="rect">
            <a:avLst/>
          </a:prstGeom>
          <a:noFill/>
          <a:ln/>
        </p:spPr>
        <p:txBody>
          <a:bodyPr wrap="square" rtlCol="0" anchor="t"/>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Car condition, traffic, and passenger count add very little to predicting fare.</a:t>
            </a:r>
            <a:endParaRPr lang="en-US" sz="1150" dirty="0"/>
          </a:p>
        </p:txBody>
      </p:sp>
      <p:sp>
        <p:nvSpPr>
          <p:cNvPr id="21" name="Shape 15"/>
          <p:cNvSpPr/>
          <p:nvPr/>
        </p:nvSpPr>
        <p:spPr>
          <a:xfrm>
            <a:off x="548640" y="5538216"/>
            <a:ext cx="566928" cy="566928"/>
          </a:xfrm>
          <a:prstGeom prst="ellipse">
            <a:avLst/>
          </a:prstGeom>
          <a:solidFill>
            <a:srgbClr val="1C7293"/>
          </a:solidFill>
          <a:ln/>
        </p:spPr>
      </p:sp>
      <p:pic>
        <p:nvPicPr>
          <p:cNvPr id="22" name="Image 4" descr="preencoded.png"/>
          <p:cNvPicPr>
            <a:picLocks noChangeAspect="1"/>
          </p:cNvPicPr>
          <p:nvPr/>
        </p:nvPicPr>
        <p:blipFill>
          <a:blip r:embed="rId7"/>
          <a:stretch>
            <a:fillRect/>
          </a:stretch>
        </p:blipFill>
        <p:spPr>
          <a:xfrm>
            <a:off x="696041" y="5685617"/>
            <a:ext cx="272125" cy="272125"/>
          </a:xfrm>
          <a:prstGeom prst="rect">
            <a:avLst/>
          </a:prstGeom>
        </p:spPr>
      </p:pic>
      <p:sp>
        <p:nvSpPr>
          <p:cNvPr id="23" name="Text 16"/>
          <p:cNvSpPr/>
          <p:nvPr/>
        </p:nvSpPr>
        <p:spPr>
          <a:xfrm>
            <a:off x="1280160" y="5105400"/>
            <a:ext cx="4709160" cy="644652"/>
          </a:xfrm>
          <a:prstGeom prst="rect">
            <a:avLst/>
          </a:prstGeom>
          <a:noFill/>
          <a:ln/>
        </p:spPr>
        <p:txBody>
          <a:bodyPr wrap="square" rtlCol="0" anchor="b"/>
          <a:lstStyle/>
          <a:p>
            <a:pPr marL="0" indent="0">
              <a:buNone/>
            </a:pPr>
            <a:r>
              <a:rPr lang="en-US" sz="1450" b="1" dirty="0">
                <a:solidFill>
                  <a:srgbClr val="FFFFFF"/>
                </a:solidFill>
                <a:latin typeface="Cambria" pitchFamily="34" charset="0"/>
                <a:ea typeface="Cambria" pitchFamily="34" charset="-122"/>
                <a:cs typeface="Cambria" pitchFamily="34" charset="-120"/>
              </a:rPr>
              <a:t>Keep the airport feature</a:t>
            </a:r>
            <a:endParaRPr lang="en-US" sz="1450" dirty="0"/>
          </a:p>
        </p:txBody>
      </p:sp>
      <p:sp>
        <p:nvSpPr>
          <p:cNvPr id="24" name="Text 17"/>
          <p:cNvSpPr/>
          <p:nvPr/>
        </p:nvSpPr>
        <p:spPr>
          <a:xfrm>
            <a:off x="1280160" y="5707075"/>
            <a:ext cx="4709160" cy="830885"/>
          </a:xfrm>
          <a:prstGeom prst="rect">
            <a:avLst/>
          </a:prstGeom>
          <a:noFill/>
          <a:ln/>
        </p:spPr>
        <p:txBody>
          <a:bodyPr wrap="square" rtlCol="0" anchor="t"/>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Distance to JFK, grouped into bins, shows a real fare premium worth keeping.</a:t>
            </a:r>
            <a:endParaRPr lang="en-US" sz="1150" dirty="0"/>
          </a:p>
        </p:txBody>
      </p:sp>
      <p:sp>
        <p:nvSpPr>
          <p:cNvPr id="25" name="Shape 18"/>
          <p:cNvSpPr/>
          <p:nvPr/>
        </p:nvSpPr>
        <p:spPr>
          <a:xfrm>
            <a:off x="6400800" y="5538216"/>
            <a:ext cx="566928" cy="566928"/>
          </a:xfrm>
          <a:prstGeom prst="ellipse">
            <a:avLst/>
          </a:prstGeom>
          <a:solidFill>
            <a:srgbClr val="1C7293"/>
          </a:solidFill>
          <a:ln/>
        </p:spPr>
      </p:sp>
      <p:pic>
        <p:nvPicPr>
          <p:cNvPr id="26" name="Image 5" descr="preencoded.png"/>
          <p:cNvPicPr>
            <a:picLocks noChangeAspect="1"/>
          </p:cNvPicPr>
          <p:nvPr/>
        </p:nvPicPr>
        <p:blipFill>
          <a:blip r:embed="rId8"/>
          <a:stretch>
            <a:fillRect/>
          </a:stretch>
        </p:blipFill>
        <p:spPr>
          <a:xfrm>
            <a:off x="6548201" y="5685617"/>
            <a:ext cx="272125" cy="272125"/>
          </a:xfrm>
          <a:prstGeom prst="rect">
            <a:avLst/>
          </a:prstGeom>
        </p:spPr>
      </p:pic>
      <p:sp>
        <p:nvSpPr>
          <p:cNvPr id="27" name="Text 19"/>
          <p:cNvSpPr/>
          <p:nvPr/>
        </p:nvSpPr>
        <p:spPr>
          <a:xfrm>
            <a:off x="7132320" y="5105400"/>
            <a:ext cx="4709160" cy="644652"/>
          </a:xfrm>
          <a:prstGeom prst="rect">
            <a:avLst/>
          </a:prstGeom>
          <a:noFill/>
          <a:ln/>
        </p:spPr>
        <p:txBody>
          <a:bodyPr wrap="square" rtlCol="0" anchor="b"/>
          <a:lstStyle/>
          <a:p>
            <a:pPr marL="0" indent="0">
              <a:buNone/>
            </a:pPr>
            <a:r>
              <a:rPr lang="en-US" sz="1450" b="1" dirty="0">
                <a:solidFill>
                  <a:srgbClr val="FFFFFF"/>
                </a:solidFill>
                <a:latin typeface="Cambria" pitchFamily="34" charset="0"/>
                <a:ea typeface="Cambria" pitchFamily="34" charset="-122"/>
                <a:cs typeface="Cambria" pitchFamily="34" charset="-120"/>
              </a:rPr>
              <a:t>Add time-based features</a:t>
            </a:r>
            <a:endParaRPr lang="en-US" sz="1450" dirty="0"/>
          </a:p>
        </p:txBody>
      </p:sp>
      <p:sp>
        <p:nvSpPr>
          <p:cNvPr id="28" name="Text 20"/>
          <p:cNvSpPr/>
          <p:nvPr/>
        </p:nvSpPr>
        <p:spPr>
          <a:xfrm>
            <a:off x="7132320" y="5707075"/>
            <a:ext cx="4709160" cy="830885"/>
          </a:xfrm>
          <a:prstGeom prst="rect">
            <a:avLst/>
          </a:prstGeom>
          <a:noFill/>
          <a:ln/>
        </p:spPr>
        <p:txBody>
          <a:bodyPr wrap="square" rtlCol="0" anchor="t"/>
          <a:lstStyle/>
          <a:p>
            <a:pPr marL="0" indent="0">
              <a:lnSpc>
                <a:spcPct val="110000"/>
              </a:lnSpc>
              <a:buNone/>
            </a:pPr>
            <a:r>
              <a:rPr lang="en-US" sz="1150" dirty="0">
                <a:solidFill>
                  <a:srgbClr val="CADCFC"/>
                </a:solidFill>
                <a:latin typeface="Calibri" pitchFamily="34" charset="0"/>
                <a:ea typeface="Calibri" pitchFamily="34" charset="-122"/>
                <a:cs typeface="Calibri" pitchFamily="34" charset="-120"/>
              </a:rPr>
              <a:t>Hour of day and hour combined with day of week both show real, if modest, patterns.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1095</Words>
  <Application>Microsoft Office PowerPoint</Application>
  <PresentationFormat>Widescreen</PresentationFormat>
  <Paragraphs>112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Fare Prediction - EDA Insights</dc:title>
  <dc:subject>PptxGenJS Presentation</dc:subject>
  <dc:creator>Nada Elghaweet</dc:creator>
  <cp:lastModifiedBy>nada</cp:lastModifiedBy>
  <cp:revision>10</cp:revision>
  <dcterms:created xsi:type="dcterms:W3CDTF">2026-07-08T22:55:21Z</dcterms:created>
  <dcterms:modified xsi:type="dcterms:W3CDTF">2026-07-09T15:12:27Z</dcterms:modified>
</cp:coreProperties>
</file>